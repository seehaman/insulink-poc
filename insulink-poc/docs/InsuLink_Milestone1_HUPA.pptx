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charts/chart1.xml" ContentType="application/vnd.openxmlformats-officedocument.drawingml.chart+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slides/slide21.xml" ContentType="application/vnd.openxmlformats-officedocument.presentationml.slide+xml"/>
  <Override PartName="/ppt/notesSlides/notesSlide21.xml" ContentType="application/vnd.openxmlformats-officedocument.presentationml.notesSlide+xml"/>
  <Override PartName="/ppt/charts/chart2.xml" ContentType="application/vnd.openxmlformats-officedocument.drawingml.chart+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85" r:id="rId1"/>
  </p:sldMasterIdLst>
  <p:notesMasterIdLst>
    <p:notesMasterId r:id="rId22"/>
  </p:notesMasterIdLst>
  <p:sldIdLst>
    <p:sldId id="256" r:id="rId2"/>
    <p:sldId id="290" r:id="rId3"/>
    <p:sldId id="291" r:id="rId4"/>
    <p:sldId id="292" r:id="rId5"/>
    <p:sldId id="293" r:id="rId6"/>
    <p:sldId id="294" r:id="rId7"/>
    <p:sldId id="295" r:id="rId8"/>
    <p:sldId id="296" r:id="rId9"/>
    <p:sldId id="297" r:id="rId10"/>
    <p:sldId id="298" r:id="rId11"/>
    <p:sldId id="299" r:id="rId12"/>
    <p:sldId id="300" r:id="rId13"/>
    <p:sldId id="301" r:id="rId14"/>
    <p:sldId id="302" r:id="rId15"/>
    <p:sldId id="303" r:id="rId16"/>
    <p:sldId id="309" r:id="rId27"/>
    <p:sldId id="305" r:id="rId18"/>
    <p:sldId id="306" r:id="rId19"/>
    <p:sldId id="307" r:id="rId20"/>
    <p:sldId id="308" r:id="rId21"/>
  </p:sldIdLst>
  <p:sldSz cx="12192000" cy="6858000"/>
  <p:notesSz cx="6858000" cy="9144000"/>
  <p:defaultTextStyle>
    <a:defPPr>
      <a:defRPr lang="x-non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141" autoAdjust="0"/>
    <p:restoredTop sz="94375" autoAdjust="0"/>
  </p:normalViewPr>
  <p:slideViewPr>
    <p:cSldViewPr snapToGrid="0">
      <p:cViewPr varScale="1">
        <p:scale>
          <a:sx n="104" d="100"/>
          <a:sy n="104" d="100"/>
        </p:scale>
        <p:origin x="824" y="200"/>
      </p:cViewPr>
      <p:guideLst/>
    </p:cSldViewPr>
  </p:slideViewPr>
  <p:outlineViewPr>
    <p:cViewPr>
      <p:scale>
        <a:sx n="33" d="100"/>
        <a:sy n="33" d="100"/>
      </p:scale>
      <p:origin x="0" y="-6056"/>
    </p:cViewPr>
  </p:outlineViewPr>
  <p:notesTextViewPr>
    <p:cViewPr>
      <p:scale>
        <a:sx n="1" d="1"/>
        <a:sy n="1" d="1"/>
      </p:scale>
      <p:origin x="0" y="0"/>
    </p:cViewPr>
  </p:notesTextViewPr>
  <p:gridSpacing cx="72008" cy="72008"/>
</p:viewPr>
</file>

<file path=ppt/_rels/presentation.xml.rels><?xml version="1.0" encoding="utf-8"?><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  <Relationship Id="rId27" Type="http://schemas.openxmlformats.org/officeDocument/2006/relationships/slide" Target="slides/slide21.xml"/>
</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Mean absolute error (mg/dL)</c:v>
                </c:pt>
              </c:strCache>
            </c:strRef>
          </c:tx>
          <c:invertIfNegative val="1"/>
          <c:dPt>
            <c:idx val="0"/>
            <c:invertIfNegative val="1"/>
            <c:bubble3D val="0"/>
            <c:spPr>
              <a:solidFill>
                <a:schemeClr val="accent1"/>
              </a:solidFill>
            </c:spPr>
            <c:extLst>
              <c:ext xmlns:c16="http://schemas.microsoft.com/office/drawing/2014/chart" uri="{C3380CC4-5D6E-409C-BE32-E72D297353CC}">
                <c16:uniqueId val="{00000001-5844-6A4D-8B57-ACBE32B18EF6}"/>
              </c:ext>
            </c:extLst>
          </c:dPt>
          <c:dPt>
            <c:idx val="1"/>
            <c:invertIfNegative val="1"/>
            <c:bubble3D val="0"/>
            <c:spPr>
              <a:solidFill>
                <a:srgbClr val="A8A197"/>
              </a:solidFill>
            </c:spPr>
            <c:extLst>
              <c:ext xmlns:c16="http://schemas.microsoft.com/office/drawing/2014/chart" uri="{C3380CC4-5D6E-409C-BE32-E72D297353CC}">
                <c16:uniqueId val="{00000003-5844-6A4D-8B57-ACBE32B18EF6}"/>
              </c:ext>
            </c:extLst>
          </c:dPt>
          <c:dPt>
            <c:idx val="2"/>
            <c:invertIfNegative val="1"/>
            <c:bubble3D val="0"/>
            <c:spPr>
              <a:solidFill>
                <a:srgbClr val="A8A197"/>
              </a:solidFill>
            </c:spPr>
            <c:extLst>
              <c:ext xmlns:c16="http://schemas.microsoft.com/office/drawing/2014/chart" uri="{C3380CC4-5D6E-409C-BE32-E72D297353CC}">
                <c16:uniqueId val="{00000005-5844-6A4D-8B57-ACBE32B18EF6}"/>
              </c:ext>
            </c:extLst>
          </c:dPt>
          <c:dLbls>
            <c:numFmt formatCode="0.0" sourceLinked="0"/>
            <c:spPr>
              <a:noFill/>
              <a:ln>
                <a:noFill/>
              </a:ln>
              <a:effectLst/>
            </c:spPr>
            <c:txPr>
              <a:bodyPr/>
              <a:lstStyle/>
              <a:p>
                <a:pPr>
                  <a:defRPr sz="1800" b="1">
                    <a:solidFill>
                      <a:schemeClr val="tx1"/>
                    </a:solidFil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Personal model</c:v>
                </c:pt>
                <c:pt idx="1">
                  <c:v>Carb-count ratio</c:v>
                </c:pt>
                <c:pt idx="2">
                  <c:v>Global average</c:v>
                </c:pt>
              </c:strCache>
            </c:strRef>
          </c:cat>
          <c:val>
            <c:numRef>
              <c:f>Sheet1!$B$2:$B$4</c:f>
              <c:numCache>
                <c:formatCode>General</c:formatCode>
                <c:ptCount val="3"/>
                <c:pt idx="0">
                  <c:v>36.4</c:v>
                </c:pt>
                <c:pt idx="1">
                  <c:v>37.5</c:v>
                </c:pt>
                <c:pt idx="2">
                  <c:v>32.4</c:v>
                </c:pt>
              </c:numCache>
            </c:numRef>
          </c:val>
          <c:extLst>
            <c:ext xmlns:c16="http://schemas.microsoft.com/office/drawing/2014/chart" uri="{C3380CC4-5D6E-409C-BE32-E72D297353CC}">
              <c16:uniqueId val="{00000006-5844-6A4D-8B57-ACBE32B18EF6}"/>
            </c:ext>
          </c:extLst>
        </c:ser>
        <c:dLbls>
          <c:dLblPos val="outEnd"/>
          <c:showLegendKey val="0"/>
          <c:showVal val="1"/>
          <c:showCatName val="0"/>
          <c:showSerName val="0"/>
          <c:showPercent val="0"/>
          <c:showBubbleSize val="0"/>
        </c:dLbls>
        <c:gapWidth val="55"/>
        <c:axId val="-2068027336"/>
        <c:axId val="-2113994440"/>
      </c:barChart>
      <c:catAx>
        <c:axId val="-2068027336"/>
        <c:scaling>
          <c:orientation val="minMax"/>
        </c:scaling>
        <c:delete val="0"/>
        <c:axPos val="b"/>
        <c:numFmt formatCode="General" sourceLinked="0"/>
        <c:majorTickMark val="out"/>
        <c:minorTickMark val="none"/>
        <c:tickLblPos val="nextTo"/>
        <c:spPr>
          <a:ln>
            <a:solidFill>
              <a:srgbClr val="D5D0C8"/>
            </a:solidFill>
          </a:ln>
        </c:spPr>
        <c:txPr>
          <a:bodyPr/>
          <a:lstStyle/>
          <a:p>
            <a:pPr>
              <a:defRPr sz="1400"/>
            </a:pPr>
            <a:endParaRPr lang="en-US"/>
          </a:p>
        </c:txPr>
        <c:crossAx val="-2113994440"/>
        <c:crosses val="autoZero"/>
        <c:auto val="1"/>
        <c:lblAlgn val="ctr"/>
        <c:lblOffset val="100"/>
        <c:noMultiLvlLbl val="0"/>
      </c:catAx>
      <c:valAx>
        <c:axId val="-2113994440"/>
        <c:scaling>
          <c:orientation val="minMax"/>
          <c:max val="44"/>
          <c:min val="0"/>
        </c:scaling>
        <c:delete val="1"/>
        <c:axPos val="l"/>
        <c:numFmt formatCode="General" sourceLinked="1"/>
        <c:majorTickMark val="out"/>
        <c:minorTickMark val="none"/>
        <c:tickLblPos val="nextTo"/>
        <c:crossAx val="-2068027336"/>
        <c:crosses val="autoZero"/>
        <c:crossBetween val="between"/>
      </c:valAx>
    </c:plotArea>
    <c:plotVisOnly val="1"/>
    <c:dispBlanksAs val="gap"/>
    <c:showDLblsOverMax val="1"/>
  </c:chart>
  <c:txPr>
    <a:bodyPr/>
    <a:lstStyle/>
    <a:p>
      <a:pPr>
        <a:defRPr sz="1400">
          <a:solidFill>
            <a:schemeClr val="tx2"/>
          </a:solidFill>
          <a:latin typeface="+mn-lt"/>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lang val="en-US"/>
  <c:roundedCorners val="0"/>
  <c:chart>
    <c:autoTitleDeleted val="1"/>
    <c:plotArea>
      <c:layout/>
      <c:lineChart>
        <c:grouping val="standard"/>
        <c:varyColors val="0"/>
        <c:ser>
          <c:idx val="0"/>
          <c:order val="0"/>
          <c:tx>
            <c:strRef>
              <c:f>Sheet1!$B$1</c:f>
              <c:strCache>
                <c:ptCount val="1"/>
                <c:pt idx="0">
                  <c:v>Personal model</c:v>
                </c:pt>
              </c:strCache>
            </c:strRef>
          </c:tx>
          <c:spPr>
            <a:ln w="38100" cap="rnd">
              <a:solidFill>
                <a:schemeClr val="accent1"/>
              </a:solidFill>
              <a:round/>
            </a:ln>
          </c:spPr>
          <c:marker>
            <c:symbol val="circle"/>
            <c:size val="7"/>
            <c:spPr>
              <a:solidFill>
                <a:schemeClr val="accent1"/>
              </a:solidFill>
              <a:ln>
                <a:noFill/>
              </a:ln>
            </c:spPr>
          </c:marker>
          <c:dLbls>
            <c:numFmt formatCode="0.0" sourceLinked="0"/>
            <c:spPr>
              <a:noFill/>
              <a:ln>
                <a:noFill/>
              </a:ln>
            </c:spPr>
            <c:txPr>
              <a:bodyPr/>
              <a:lstStyle/>
              <a:p>
                <a:pPr>
                  <a:defRPr sz="1200" b="1">
                    <a:solidFill>
                      <a:schemeClr val="accent1"/>
                    </a:solidFill>
                  </a:defRPr>
                </a:pPr>
                <a:endParaRPr lang="en-US"/>
              </a:p>
            </c:txPr>
            <c:dLblPos val="b"/>
            <c:showLegendKey val="0"/>
            <c:showVal val="1"/>
            <c:showCatName val="0"/>
            <c:showSerName val="0"/>
            <c:showPercent val="0"/>
            <c:showBubbleSize val="0"/>
          </c:dLbls>
          <c:cat>
            <c:strRef>
              <c:f>Sheet1!$A$2:$A$6</c:f>
              <c:strCache>
                <c:ptCount val="5"/>
                <c:pt idx="0">
                  <c:v>10</c:v>
                </c:pt>
                <c:pt idx="1">
                  <c:v>20</c:v>
                </c:pt>
                <c:pt idx="2">
                  <c:v>30</c:v>
                </c:pt>
                <c:pt idx="3">
                  <c:v>60</c:v>
                </c:pt>
                <c:pt idx="4">
                  <c:v>120</c:v>
                </c:pt>
              </c:strCache>
            </c:strRef>
          </c:cat>
          <c:val>
            <c:numRef>
              <c:f>Sheet1!$B$2:$B$6</c:f>
              <c:numCache>
                <c:formatCode>General</c:formatCode>
                <c:ptCount val="5"/>
                <c:pt idx="0">
                  <c:v>29.9</c:v>
                </c:pt>
                <c:pt idx="1">
                  <c:v>27.7</c:v>
                </c:pt>
                <c:pt idx="2">
                  <c:v>28.5</c:v>
                </c:pt>
                <c:pt idx="3">
                  <c:v>23.8</c:v>
                </c:pt>
                <c:pt idx="4">
                  <c:v>20.9</c:v>
                </c:pt>
              </c:numCache>
            </c:numRef>
          </c:val>
          <c:smooth val="0"/>
        </c:ser>
        <c:ser>
          <c:idx val="1"/>
          <c:order val="1"/>
          <c:tx>
            <c:strRef>
              <c:f>Sheet1!$C$1</c:f>
              <c:strCache>
                <c:ptCount val="1"/>
                <c:pt idx="0">
                  <c:v>Carb-count ratio</c:v>
                </c:pt>
              </c:strCache>
            </c:strRef>
          </c:tx>
          <c:spPr>
            <a:ln w="25400" cap="rnd">
              <a:solidFill>
                <a:srgbClr val="A8A197"/>
              </a:solidFill>
              <a:round/>
            </a:ln>
          </c:spPr>
          <c:marker>
            <c:symbol val="square"/>
            <c:size val="7"/>
            <c:spPr>
              <a:solidFill>
                <a:srgbClr val="A8A197"/>
              </a:solidFill>
              <a:ln>
                <a:noFill/>
              </a:ln>
            </c:spPr>
          </c:marker>
          <c:cat>
            <c:strRef>
              <c:f>Sheet1!$A$2:$A$6</c:f>
              <c:strCache>
                <c:ptCount val="5"/>
                <c:pt idx="0">
                  <c:v>10</c:v>
                </c:pt>
                <c:pt idx="1">
                  <c:v>20</c:v>
                </c:pt>
                <c:pt idx="2">
                  <c:v>30</c:v>
                </c:pt>
                <c:pt idx="3">
                  <c:v>60</c:v>
                </c:pt>
                <c:pt idx="4">
                  <c:v>120</c:v>
                </c:pt>
              </c:strCache>
            </c:strRef>
          </c:cat>
          <c:val>
            <c:numRef>
              <c:f>Sheet1!$C$2:$C$6</c:f>
              <c:numCache>
                <c:formatCode>General</c:formatCode>
                <c:ptCount val="5"/>
                <c:pt idx="0">
                  <c:v>30.9</c:v>
                </c:pt>
                <c:pt idx="1">
                  <c:v>27.9</c:v>
                </c:pt>
                <c:pt idx="2">
                  <c:v>29.1</c:v>
                </c:pt>
                <c:pt idx="3">
                  <c:v>27.9</c:v>
                </c:pt>
                <c:pt idx="4">
                  <c:v>28.3</c:v>
                </c:pt>
              </c:numCache>
            </c:numRef>
          </c:val>
          <c:smooth val="0"/>
        </c:ser>
        <c:ser>
          <c:idx val="2"/>
          <c:order val="2"/>
          <c:tx>
            <c:strRef>
              <c:f>Sheet1!$D$1</c:f>
              <c:strCache>
                <c:ptCount val="1"/>
                <c:pt idx="0">
                  <c:v>Global average</c:v>
                </c:pt>
              </c:strCache>
            </c:strRef>
          </c:tx>
          <c:spPr>
            <a:ln w="19050" cap="rnd">
              <a:solidFill>
                <a:srgbClr val="5F5A54"/>
              </a:solidFill>
              <a:prstDash val="dash"/>
              <a:round/>
            </a:ln>
          </c:spPr>
          <c:marker>
            <c:symbol val="none"/>
          </c:marker>
          <c:cat>
            <c:strRef>
              <c:f>Sheet1!$A$2:$A$6</c:f>
              <c:strCache>
                <c:ptCount val="5"/>
                <c:pt idx="0">
                  <c:v>10</c:v>
                </c:pt>
                <c:pt idx="1">
                  <c:v>20</c:v>
                </c:pt>
                <c:pt idx="2">
                  <c:v>30</c:v>
                </c:pt>
                <c:pt idx="3">
                  <c:v>60</c:v>
                </c:pt>
                <c:pt idx="4">
                  <c:v>120</c:v>
                </c:pt>
              </c:strCache>
            </c:strRef>
          </c:cat>
          <c:val>
            <c:numRef>
              <c:f>Sheet1!$D$2:$D$6</c:f>
              <c:numCache>
                <c:formatCode>General</c:formatCode>
                <c:ptCount val="5"/>
                <c:pt idx="0">
                  <c:v>27.3</c:v>
                </c:pt>
                <c:pt idx="1">
                  <c:v>27.3</c:v>
                </c:pt>
                <c:pt idx="2">
                  <c:v>27.3</c:v>
                </c:pt>
                <c:pt idx="3">
                  <c:v>27.3</c:v>
                </c:pt>
                <c:pt idx="4">
                  <c:v>27.3</c:v>
                </c:pt>
              </c:numCache>
            </c:numRef>
          </c:val>
          <c:smooth val="0"/>
        </c:ser>
        <c:marker val="1"/>
        <c:axId val="111111111"/>
        <c:axId val="222222222"/>
      </c:lineChart>
      <c:catAx>
        <c:axId val="111111111"/>
        <c:scaling>
          <c:orientation val="minMax"/>
        </c:scaling>
        <c:delete val="0"/>
        <c:axPos val="b"/>
        <c:title>
          <c:tx>
            <c:rich>
              <a:bodyPr/>
              <a:lstStyle/>
              <a:p>
                <a:pPr>
                  <a:defRPr sz="1200" b="0"/>
                </a:pPr>
                <a:r>
                  <a:rPr lang="en-US" sz="1200" b="0"/>
                  <a:t>Learning meals in history</a:t>
                </a:r>
              </a:p>
            </c:rich>
          </c:tx>
          <c:overlay val="0"/>
        </c:title>
        <c:numFmt formatCode="General" sourceLinked="0"/>
        <c:majorTickMark val="none"/>
        <c:minorTickMark val="none"/>
        <c:tickLblPos val="nextTo"/>
        <c:spPr>
          <a:ln>
            <a:solidFill>
              <a:srgbClr val="D5D0C8"/>
            </a:solidFill>
          </a:ln>
        </c:spPr>
        <c:txPr>
          <a:bodyPr/>
          <a:lstStyle/>
          <a:p>
            <a:pPr>
              <a:defRPr sz="1200"/>
            </a:pPr>
            <a:endParaRPr lang="en-US"/>
          </a:p>
        </c:txPr>
        <c:crossAx val="222222222"/>
        <c:crosses val="autoZero"/>
        <c:auto val="1"/>
        <c:lblAlgn val="ctr"/>
        <c:lblOffset val="100"/>
        <c:noMultiLvlLbl val="0"/>
      </c:catAx>
      <c:valAx>
        <c:axId val="222222222"/>
        <c:scaling>
          <c:orientation val="minMax"/>
          <c:max val="35"/>
          <c:min val="15"/>
        </c:scaling>
        <c:delete val="0"/>
        <c:axPos val="l"/>
        <c:majorGridlines>
          <c:spPr>
            <a:ln w="6350">
              <a:solidFill>
                <a:srgbClr val="E8E4DE"/>
              </a:solidFill>
            </a:ln>
          </c:spPr>
        </c:majorGridlines>
        <c:numFmt formatCode="0" sourceLinked="0"/>
        <c:majorTickMark val="none"/>
        <c:minorTickMark val="none"/>
        <c:tickLblPos val="nextTo"/>
        <c:spPr>
          <a:ln>
            <a:noFill/>
          </a:ln>
        </c:spPr>
        <c:txPr>
          <a:bodyPr/>
          <a:lstStyle/>
          <a:p>
            <a:pPr>
              <a:defRPr sz="1200"/>
            </a:pPr>
            <a:endParaRPr lang="en-US"/>
          </a:p>
        </c:txPr>
        <c:crossAx val="111111111"/>
        <c:crosses val="autoZero"/>
        <c:crossBetween val="between"/>
        <c:majorUnit val="5"/>
      </c:valAx>
    </c:plotArea>
    <c:legend>
      <c:legendPos val="t"/>
      <c:overlay val="0"/>
      <c:txPr>
        <a:bodyPr/>
        <a:lstStyle/>
        <a:p>
          <a:pPr>
            <a:defRPr sz="1200"/>
          </a:pPr>
          <a:endParaRPr lang="en-US"/>
        </a:p>
      </c:txPr>
    </c:legend>
    <c:plotVisOnly val="1"/>
    <c:dispBlanksAs val="gap"/>
  </c:chart>
  <c:txPr>
    <a:bodyPr/>
    <a:lstStyle/>
    <a:p>
      <a:pPr>
        <a:defRPr sz="1200">
          <a:solidFill>
            <a:schemeClr val="tx2"/>
          </a:solidFill>
          <a:latin typeface="+mn-lt"/>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x-none"/>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3B22A86-3B29-1B42-BF1F-067BB333AF35}" type="datetimeFigureOut">
              <a:rPr lang="x-none" smtClean="0"/>
              <a:t>10/19/26</a:t>
            </a:fld>
            <a:endParaRPr lang="x-none"/>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x-none"/>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x-none"/>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DB7418C-74CC-0242-A6F1-6C9CC14D5309}" type="slidenum">
              <a:rPr lang="x-none" smtClean="0"/>
              <a:t>‹#›</a:t>
            </a:fld>
            <a:endParaRPr lang="x-none"/>
          </a:p>
        </p:txBody>
      </p:sp>
    </p:spTree>
    <p:extLst>
      <p:ext uri="{BB962C8B-B14F-4D97-AF65-F5344CB8AC3E}">
        <p14:creationId xmlns:p14="http://schemas.microsoft.com/office/powerpoint/2010/main" val="191453556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Introduce the team and the project in one sentence: InsuLink is a glucose-management app that learns how each person responds to food and keeps trusted people informed when glucose becomes dangerous. Fill in your full name, the supervisor and the date before presenting.</a:t>
            </a:r>
          </a:p>
        </p:txBody>
      </p:sp>
      <p:sp>
        <p:nvSpPr>
          <p:cNvPr id="4" name="Slide Number Placeholder 3"/>
          <p:cNvSpPr>
            <a:spLocks noGrp="1"/>
          </p:cNvSpPr>
          <p:nvPr>
            <p:ph type="sldNum" sz="quarter" idx="5"/>
          </p:nvPr>
        </p:nvSpPr>
        <p:spPr/>
        <p:txBody>
          <a:bodyPr/>
          <a:lstStyle/>
          <a:p>
            <a:fld id="{9DB7418C-74CC-0242-A6F1-6C9CC14D5309}" type="slidenum">
              <a:rPr lang="x-none" smtClean="0"/>
              <a:t>1</a:t>
            </a:fld>
            <a:endParaRPr lang="x-none"/>
          </a:p>
        </p:txBody>
      </p:sp>
    </p:spTree>
    <p:extLst>
      <p:ext uri="{BB962C8B-B14F-4D97-AF65-F5344CB8AC3E}">
        <p14:creationId xmlns:p14="http://schemas.microsoft.com/office/powerpoint/2010/main" val="133338641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Nine sections, roughly one to two minutes each. The proof of concept and the demo are the core of this milestone.</a:t>
            </a:r>
          </a:p>
        </p:txBody>
      </p:sp>
      <p:sp>
        <p:nvSpPr>
          <p:cNvPr id="4" name="Slide Number Placeholder 3"/>
          <p:cNvSpPr>
            <a:spLocks noGrp="1"/>
          </p:cNvSpPr>
          <p:nvPr>
            <p:ph type="sldNum" sz="quarter" idx="5"/>
          </p:nvPr>
        </p:nvSpPr>
        <p:spPr/>
        <p:txBody>
          <a:bodyPr/>
          <a:lstStyle/>
          <a:p>
            <a:fld id="{9DB7418C-74CC-0242-A6F1-6C9CC14D5309}" type="slidenum">
              <a:rPr lang="x-none" smtClean="0"/>
              <a:t>2</a:t>
            </a:fld>
            <a:endParaRPr lang="x-none"/>
          </a:p>
        </p:txBody>
      </p:sp>
    </p:spTree>
    <p:extLst>
      <p:ext uri="{BB962C8B-B14F-4D97-AF65-F5344CB8AC3E}">
        <p14:creationId xmlns:p14="http://schemas.microsoft.com/office/powerpoint/2010/main" val="224127364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InsuLink does not just show glucose. It follows one loop: monitor, understand, learn, predict, guide, protect, personalize. Each cycle feeds the next, and user feedback closes the loop.</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Three things set InsuLink apart: guidance built from the user's own history, advice that shows its evidence, and a safety net that does not depend on the user being able to respond.</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Today's tools show numbers but leave the explaining to the user. The bottom line is measured from our dataset: only 8 of the 25 HUPA-UCM patients spend at least 70% of the time between 70 and 180 mg/dL, and the median patient spends 6.4% of the time below 70 (the target is under 4%). An Egypt prevalence figure from the IDF Diabetes Atlas can be added as a second line.</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Left: the three problems. Right: the four objectives that answer them. Objective 3 is why the safety logic is kept separate from machine learning.</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Two standards we build on. Time in range is how we summarize glucose on the dashboard. The Clarke Error Grid is how the forecasting model will be judged in Tier 2. Check both reference entries against the originals before submitting.</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Existing products already cover sharing and logging well. Our question is narrower: can an app explain one person's own food response and escalate when they cannot act? Verify each named product's current features before the final submission.</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Three parts. The Flutter app holds the dashboard, the safety engine and the on-device model. Firebase stores the data. Cloud Functions run the escalation timers on the server, so a sleeping phone cannot stop an alert.</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proof of concept is five small modules, all pure Python with no dependencies, so each can be tested alone. The Flutter app will port this logic. 30 unit tests pass.</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Safety is deliberately boring: fixed rules, hard limits, server-side timers. Thresholds in the prototype are placeholders that a clinician must review before any real use.</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Example from the proof of concept: an urgent low of 46 mg/dL on simulated day 6, and the user does not respond. The user is asked first. Contacts are notified one by one every ten minutes. Pressing I'm Not Okay notifies everyone at once. This is not a hypothetical case: in HUPA-UCM, 22 of 25 patients had at least one low below 54 mg/dL lasting 15 minutes or more, and lows of 45 to 46 mg/dL appear in several patients.</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food-response engine is statistics, not a black box. Each meal gets a measured response. A new or hypothetical meal is matched to the most similar past meals, and those meals are the explanation. In the app, similarity also uses shared foods; the HUPA-UCM dataset only records carbohydrates, so for the evaluation we match on carbs, time of day and starting glucose.</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We moved from synthetic data to HUPA-UCM, an open dataset of 25 people with type 1 diabetes from Spain: FreeStyle Libre 2 glucose every 5 minutes, insulin doses, carbohydrate entries and Fitbit activity. An isolated meal has no other meal in the next 2 hours. Peak rise is the highest glucose in those 2 hours minus the level just before eating. Each patient's meals are split in time order, so the model never sees the future. One data issue: the documentation says carbs are in grams, but most patients log 10 g units, so we convert per patient. 22 patients had at least 10 usable meals. Nothing here is a clinical claim.</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On real data the result is different from our synthetic run, and we report it honestly. Averaged over 22 patients, the personal model's error was 36.4 mg/dL, against 37.5 for the patient's own carb-count ratio and 32.4 for one global average. It had the lowest error for 5 of 22 patients. Most patients have only about two weeks of records, roughly 30 learning meals, which is not enough to learn a personal response. A global average is also a strong baseline, likely because insulin is dosed to each meal, which flattens the differences; we have not tested that yet. Pooled over all 662 test meals, personal and global are tied at 29.9 and 30.1. The next slide shows what happens with more history.</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Four takeaways. The safety rules and escalation work and are tested. On real HUPA-UCM data, two weeks of history is not enough for the personal model to beat a global average. With months of history it does, by 23% for patient 28. So the product should start general and become personal as data builds up, and every recommendation still shows the past meals behind it. We are explicit about the limits.</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 twelve-week plan with a demo-ready build at week ten and two weeks of buffer. Adjust the weeks once the supervisor confirms the official deadline. Tier 2 and Tier 3 features follow only if time allows.</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Check every field of each entry against the original source before submitting. Add any further sources you cite on the Related Work and Motivation slides.</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Run python3 demo.py. It prints six sections in order. Then show the test run. Have the output saved as a screenshot in case the live run fails. If asked about real data, run python3 hupa_eval.py with the HUPA-UCM Preprocessed folder: it prints the error for each patient in about two seconds.</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Two patients have months of data, so we can test how much history the personal model needs. We keep the test meals fixed and give the model only its most recent 10, 20, 30, 60 or 120 learning meals. For patient 28 the error falls from 29.9 to 20.9 mg/dL and passes the global average (27.3) at about 60 meals; at 120 meals it is 23% lower. For patient 27 it reaches 27.6 against 29.0 at 120 meals and stays there up to 853 meals. The carb-count ratio never wins. The design consequence: blend the global and personal estimates, weighting the personal one more as a user logs meals. This is evidence from two patients, so it is a direction, not a proof.</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417779" y="802298"/>
            <a:ext cx="8637073" cy="2541431"/>
          </a:xfrm>
        </p:spPr>
        <p:txBody>
          <a:bodyPr bIns="0" anchor="b">
            <a:normAutofit/>
          </a:bodyPr>
          <a:lstStyle>
            <a:lvl1pPr algn="l">
              <a:defRPr sz="6600"/>
            </a:lvl1pPr>
          </a:lstStyle>
          <a:p>
            <a:r>
              <a:rPr lang="en-US" noProof="0"/>
              <a:t>Click to edit Master title style</a:t>
            </a:r>
          </a:p>
        </p:txBody>
      </p:sp>
      <p:sp>
        <p:nvSpPr>
          <p:cNvPr id="3" name="Subtitle 2"/>
          <p:cNvSpPr>
            <a:spLocks noGrp="1"/>
          </p:cNvSpPr>
          <p:nvPr>
            <p:ph type="subTitle" idx="1"/>
          </p:nvPr>
        </p:nvSpPr>
        <p:spPr>
          <a:xfrm>
            <a:off x="2417780" y="3531204"/>
            <a:ext cx="8637072" cy="977621"/>
          </a:xfrm>
        </p:spPr>
        <p:txBody>
          <a:bodyPr tIns="91440" bIns="91440">
            <a:normAutofit/>
          </a:bodyPr>
          <a:lstStyle>
            <a:lvl1pPr marL="0" indent="0" algn="l">
              <a:buNone/>
              <a:defRPr sz="1800" b="0" cap="all" baseline="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a:t>Click to edit Master subtitle style</a:t>
            </a:r>
          </a:p>
        </p:txBody>
      </p:sp>
      <p:sp>
        <p:nvSpPr>
          <p:cNvPr id="4" name="Date Placeholder 3"/>
          <p:cNvSpPr>
            <a:spLocks noGrp="1"/>
          </p:cNvSpPr>
          <p:nvPr>
            <p:ph type="dt" sz="half" idx="10"/>
          </p:nvPr>
        </p:nvSpPr>
        <p:spPr/>
        <p:txBody>
          <a:bodyPr/>
          <a:lstStyle/>
          <a:p>
            <a:fld id="{3F3E4946-5AF0-4965-B1A1-3901BDAAE9BF}" type="datetime1">
              <a:rPr lang="en-US" smtClean="0"/>
              <a:t>10/19/26</a:t>
            </a:fld>
            <a:endParaRPr lang="x-none"/>
          </a:p>
        </p:txBody>
      </p:sp>
      <p:sp>
        <p:nvSpPr>
          <p:cNvPr id="5" name="Footer Placeholder 4"/>
          <p:cNvSpPr>
            <a:spLocks noGrp="1"/>
          </p:cNvSpPr>
          <p:nvPr>
            <p:ph type="ftr" sz="quarter" idx="11"/>
          </p:nvPr>
        </p:nvSpPr>
        <p:spPr>
          <a:xfrm>
            <a:off x="2416500" y="329307"/>
            <a:ext cx="4973915" cy="309201"/>
          </a:xfrm>
        </p:spPr>
        <p:txBody>
          <a:bodyPr/>
          <a:lstStyle/>
          <a:p>
            <a:endParaRPr lang="x-none"/>
          </a:p>
        </p:txBody>
      </p:sp>
      <p:sp>
        <p:nvSpPr>
          <p:cNvPr id="6" name="Slide Number Placeholder 5"/>
          <p:cNvSpPr>
            <a:spLocks noGrp="1"/>
          </p:cNvSpPr>
          <p:nvPr>
            <p:ph type="sldNum" sz="quarter" idx="12"/>
          </p:nvPr>
        </p:nvSpPr>
        <p:spPr>
          <a:xfrm>
            <a:off x="1437664" y="798973"/>
            <a:ext cx="811019" cy="503578"/>
          </a:xfrm>
        </p:spPr>
        <p:txBody>
          <a:bodyPr/>
          <a:lstStyle/>
          <a:p>
            <a:fld id="{A0E71F06-E3F5-E242-AD46-023EB074373D}" type="slidenum">
              <a:rPr lang="x-none" smtClean="0"/>
              <a:t>‹#›</a:t>
            </a:fld>
            <a:endParaRPr lang="x-none"/>
          </a:p>
        </p:txBody>
      </p:sp>
      <p:cxnSp>
        <p:nvCxnSpPr>
          <p:cNvPr id="15" name="Straight Connector 14"/>
          <p:cNvCxnSpPr/>
          <p:nvPr/>
        </p:nvCxnSpPr>
        <p:spPr>
          <a:xfrm>
            <a:off x="2417780" y="3528542"/>
            <a:ext cx="863707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182267382"/>
      </p:ext>
    </p:extLst>
  </p:cSld>
  <p:clrMapOvr>
    <a:masterClrMapping/>
  </p:clrMapOvr>
  <p:transition spd="slow">
    <p:wipe/>
  </p:transition>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noProof="0"/>
              <a:t>Click to edit Master title style</a:t>
            </a:r>
          </a:p>
        </p:txBody>
      </p:sp>
      <p:sp>
        <p:nvSpPr>
          <p:cNvPr id="3" name="Content Placeholder 2"/>
          <p:cNvSpPr>
            <a:spLocks noGrp="1"/>
          </p:cNvSpPr>
          <p:nvPr>
            <p:ph idx="1"/>
          </p:nvPr>
        </p:nvSpPr>
        <p:spPr/>
        <p:txBody>
          <a:bodyPr anchor="t"/>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4" name="Date Placeholder 3"/>
          <p:cNvSpPr>
            <a:spLocks noGrp="1"/>
          </p:cNvSpPr>
          <p:nvPr>
            <p:ph type="dt" sz="half" idx="10"/>
          </p:nvPr>
        </p:nvSpPr>
        <p:spPr/>
        <p:txBody>
          <a:bodyPr/>
          <a:lstStyle/>
          <a:p>
            <a:fld id="{4B070F7D-28D7-49F4-B841-340C15EC4C0B}" type="datetime1">
              <a:rPr lang="en-US" smtClean="0"/>
              <a:t>10/19/26</a:t>
            </a:fld>
            <a:endParaRPr lang="x-none"/>
          </a:p>
        </p:txBody>
      </p:sp>
      <p:sp>
        <p:nvSpPr>
          <p:cNvPr id="5" name="Footer Placeholder 4"/>
          <p:cNvSpPr>
            <a:spLocks noGrp="1"/>
          </p:cNvSpPr>
          <p:nvPr>
            <p:ph type="ftr" sz="quarter" idx="11"/>
          </p:nvPr>
        </p:nvSpPr>
        <p:spPr/>
        <p:txBody>
          <a:bodyPr/>
          <a:lstStyle/>
          <a:p>
            <a:endParaRPr lang="x-none"/>
          </a:p>
        </p:txBody>
      </p:sp>
      <p:sp>
        <p:nvSpPr>
          <p:cNvPr id="6" name="Slide Number Placeholder 5"/>
          <p:cNvSpPr>
            <a:spLocks noGrp="1"/>
          </p:cNvSpPr>
          <p:nvPr>
            <p:ph type="sldNum" sz="quarter" idx="12"/>
          </p:nvPr>
        </p:nvSpPr>
        <p:spPr/>
        <p:txBody>
          <a:bodyPr/>
          <a:lstStyle/>
          <a:p>
            <a:fld id="{A0E71F06-E3F5-E242-AD46-023EB074373D}" type="slidenum">
              <a:rPr lang="x-none" smtClean="0"/>
              <a:t>‹#›</a:t>
            </a:fld>
            <a:endParaRPr lang="x-none"/>
          </a:p>
        </p:txBody>
      </p:sp>
      <p:cxnSp>
        <p:nvCxnSpPr>
          <p:cNvPr id="33" name="Straight Connector 32"/>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885620763"/>
      </p:ext>
    </p:extLst>
  </p:cSld>
  <p:clrMapOvr>
    <a:masterClrMapping/>
  </p:clrMapOvr>
  <p:transition spd="slow">
    <p:wip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454239" y="1756130"/>
            <a:ext cx="8643154" cy="1887950"/>
          </a:xfrm>
        </p:spPr>
        <p:txBody>
          <a:bodyPr anchor="b">
            <a:normAutofit/>
          </a:bodyPr>
          <a:lstStyle>
            <a:lvl1pPr algn="l">
              <a:defRPr sz="3600"/>
            </a:lvl1pPr>
          </a:lstStyle>
          <a:p>
            <a:r>
              <a:rPr lang="en-US" noProof="0"/>
              <a:t>Click to edit Master title style</a:t>
            </a:r>
          </a:p>
        </p:txBody>
      </p:sp>
      <p:sp>
        <p:nvSpPr>
          <p:cNvPr id="3" name="Text Placeholder 2"/>
          <p:cNvSpPr>
            <a:spLocks noGrp="1"/>
          </p:cNvSpPr>
          <p:nvPr>
            <p:ph type="body" idx="1"/>
          </p:nvPr>
        </p:nvSpPr>
        <p:spPr>
          <a:xfrm>
            <a:off x="1454239" y="3806195"/>
            <a:ext cx="8630446" cy="1012929"/>
          </a:xfrm>
        </p:spPr>
        <p:txBody>
          <a:bodyPr tIns="91440">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noProof="0"/>
              <a:t>Click to edit Master text styles</a:t>
            </a:r>
          </a:p>
        </p:txBody>
      </p:sp>
      <p:sp>
        <p:nvSpPr>
          <p:cNvPr id="4" name="Date Placeholder 3"/>
          <p:cNvSpPr>
            <a:spLocks noGrp="1"/>
          </p:cNvSpPr>
          <p:nvPr>
            <p:ph type="dt" sz="half" idx="10"/>
          </p:nvPr>
        </p:nvSpPr>
        <p:spPr/>
        <p:txBody>
          <a:bodyPr/>
          <a:lstStyle/>
          <a:p>
            <a:fld id="{A73D880E-0193-42CC-8EC1-ACAA670EE594}" type="datetime1">
              <a:rPr lang="en-US" smtClean="0"/>
              <a:t>10/19/26</a:t>
            </a:fld>
            <a:endParaRPr lang="x-none"/>
          </a:p>
        </p:txBody>
      </p:sp>
      <p:sp>
        <p:nvSpPr>
          <p:cNvPr id="5" name="Footer Placeholder 4"/>
          <p:cNvSpPr>
            <a:spLocks noGrp="1"/>
          </p:cNvSpPr>
          <p:nvPr>
            <p:ph type="ftr" sz="quarter" idx="11"/>
          </p:nvPr>
        </p:nvSpPr>
        <p:spPr/>
        <p:txBody>
          <a:bodyPr/>
          <a:lstStyle/>
          <a:p>
            <a:endParaRPr lang="x-none"/>
          </a:p>
        </p:txBody>
      </p:sp>
      <p:sp>
        <p:nvSpPr>
          <p:cNvPr id="6" name="Slide Number Placeholder 5"/>
          <p:cNvSpPr>
            <a:spLocks noGrp="1"/>
          </p:cNvSpPr>
          <p:nvPr>
            <p:ph type="sldNum" sz="quarter" idx="12"/>
          </p:nvPr>
        </p:nvSpPr>
        <p:spPr/>
        <p:txBody>
          <a:bodyPr/>
          <a:lstStyle/>
          <a:p>
            <a:fld id="{A0E71F06-E3F5-E242-AD46-023EB074373D}" type="slidenum">
              <a:rPr lang="x-none" smtClean="0"/>
              <a:t>‹#›</a:t>
            </a:fld>
            <a:endParaRPr lang="x-none"/>
          </a:p>
        </p:txBody>
      </p:sp>
      <p:cxnSp>
        <p:nvCxnSpPr>
          <p:cNvPr id="15" name="Straight Connector 14"/>
          <p:cNvCxnSpPr/>
          <p:nvPr/>
        </p:nvCxnSpPr>
        <p:spPr>
          <a:xfrm>
            <a:off x="1454239" y="3804985"/>
            <a:ext cx="8630446"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4011947750"/>
      </p:ext>
    </p:extLst>
  </p:cSld>
  <p:clrMapOvr>
    <a:masterClrMapping/>
  </p:clrMapOvr>
  <p:transition spd="slow">
    <p:wipe/>
  </p:transition>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49217" y="804889"/>
            <a:ext cx="9605635" cy="1059305"/>
          </a:xfrm>
        </p:spPr>
        <p:txBody>
          <a:bodyPr/>
          <a:lstStyle/>
          <a:p>
            <a:r>
              <a:rPr lang="en-US" noProof="0"/>
              <a:t>Click to edit Master title style</a:t>
            </a:r>
          </a:p>
        </p:txBody>
      </p:sp>
      <p:sp>
        <p:nvSpPr>
          <p:cNvPr id="3" name="Content Placeholder 2"/>
          <p:cNvSpPr>
            <a:spLocks noGrp="1"/>
          </p:cNvSpPr>
          <p:nvPr>
            <p:ph sz="half" idx="1"/>
          </p:nvPr>
        </p:nvSpPr>
        <p:spPr>
          <a:xfrm>
            <a:off x="1447331" y="2010878"/>
            <a:ext cx="4645152" cy="3448595"/>
          </a:xfrm>
        </p:spPr>
        <p:txBody>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4" name="Content Placeholder 3"/>
          <p:cNvSpPr>
            <a:spLocks noGrp="1"/>
          </p:cNvSpPr>
          <p:nvPr>
            <p:ph sz="half" idx="2"/>
          </p:nvPr>
        </p:nvSpPr>
        <p:spPr>
          <a:xfrm>
            <a:off x="6413771" y="2017343"/>
            <a:ext cx="4645152" cy="3441520"/>
          </a:xfrm>
        </p:spPr>
        <p:txBody>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5" name="Date Placeholder 4"/>
          <p:cNvSpPr>
            <a:spLocks noGrp="1"/>
          </p:cNvSpPr>
          <p:nvPr>
            <p:ph type="dt" sz="half" idx="10"/>
          </p:nvPr>
        </p:nvSpPr>
        <p:spPr/>
        <p:txBody>
          <a:bodyPr/>
          <a:lstStyle/>
          <a:p>
            <a:fld id="{B3CD4376-6033-4B92-80B0-C022A0DCB68C}" type="datetime1">
              <a:rPr lang="en-US" smtClean="0"/>
              <a:t>10/19/26</a:t>
            </a:fld>
            <a:endParaRPr lang="x-none"/>
          </a:p>
        </p:txBody>
      </p:sp>
      <p:sp>
        <p:nvSpPr>
          <p:cNvPr id="6" name="Footer Placeholder 5"/>
          <p:cNvSpPr>
            <a:spLocks noGrp="1"/>
          </p:cNvSpPr>
          <p:nvPr>
            <p:ph type="ftr" sz="quarter" idx="11"/>
          </p:nvPr>
        </p:nvSpPr>
        <p:spPr/>
        <p:txBody>
          <a:bodyPr/>
          <a:lstStyle/>
          <a:p>
            <a:endParaRPr lang="x-none"/>
          </a:p>
        </p:txBody>
      </p:sp>
      <p:sp>
        <p:nvSpPr>
          <p:cNvPr id="7" name="Slide Number Placeholder 6"/>
          <p:cNvSpPr>
            <a:spLocks noGrp="1"/>
          </p:cNvSpPr>
          <p:nvPr>
            <p:ph type="sldNum" sz="quarter" idx="12"/>
          </p:nvPr>
        </p:nvSpPr>
        <p:spPr/>
        <p:txBody>
          <a:bodyPr/>
          <a:lstStyle/>
          <a:p>
            <a:fld id="{A0E71F06-E3F5-E242-AD46-023EB074373D}" type="slidenum">
              <a:rPr lang="x-none" smtClean="0"/>
              <a:t>‹#›</a:t>
            </a:fld>
            <a:endParaRPr lang="x-none"/>
          </a:p>
        </p:txBody>
      </p:sp>
      <p:cxnSp>
        <p:nvCxnSpPr>
          <p:cNvPr id="35" name="Straight Connector 3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715335573"/>
      </p:ext>
    </p:extLst>
  </p:cSld>
  <p:clrMapOvr>
    <a:masterClrMapping/>
  </p:clrMapOvr>
  <p:transition spd="slow">
    <p:wip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447191" y="804163"/>
            <a:ext cx="9607661" cy="1056319"/>
          </a:xfrm>
        </p:spPr>
        <p:txBody>
          <a:bodyPr/>
          <a:lstStyle/>
          <a:p>
            <a:r>
              <a:rPr lang="en-US" noProof="0"/>
              <a:t>Click to edit Master title style</a:t>
            </a:r>
          </a:p>
        </p:txBody>
      </p:sp>
      <p:sp>
        <p:nvSpPr>
          <p:cNvPr id="3" name="Text Placeholder 2"/>
          <p:cNvSpPr>
            <a:spLocks noGrp="1"/>
          </p:cNvSpPr>
          <p:nvPr>
            <p:ph type="body" idx="1"/>
          </p:nvPr>
        </p:nvSpPr>
        <p:spPr>
          <a:xfrm>
            <a:off x="1447191" y="2019549"/>
            <a:ext cx="4645152" cy="801943"/>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Click to edit Master text styles</a:t>
            </a:r>
          </a:p>
        </p:txBody>
      </p:sp>
      <p:sp>
        <p:nvSpPr>
          <p:cNvPr id="4" name="Content Placeholder 3"/>
          <p:cNvSpPr>
            <a:spLocks noGrp="1"/>
          </p:cNvSpPr>
          <p:nvPr>
            <p:ph sz="half" idx="2"/>
          </p:nvPr>
        </p:nvSpPr>
        <p:spPr>
          <a:xfrm>
            <a:off x="1447191" y="2824269"/>
            <a:ext cx="4645152" cy="2644457"/>
          </a:xfrm>
        </p:spPr>
        <p:txBody>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5" name="Text Placeholder 4"/>
          <p:cNvSpPr>
            <a:spLocks noGrp="1"/>
          </p:cNvSpPr>
          <p:nvPr>
            <p:ph type="body" sz="quarter" idx="3"/>
          </p:nvPr>
        </p:nvSpPr>
        <p:spPr>
          <a:xfrm>
            <a:off x="6412362" y="2023003"/>
            <a:ext cx="4645152" cy="802237"/>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Click to edit Master text styles</a:t>
            </a:r>
          </a:p>
        </p:txBody>
      </p:sp>
      <p:sp>
        <p:nvSpPr>
          <p:cNvPr id="6" name="Content Placeholder 5"/>
          <p:cNvSpPr>
            <a:spLocks noGrp="1"/>
          </p:cNvSpPr>
          <p:nvPr>
            <p:ph sz="quarter" idx="4"/>
          </p:nvPr>
        </p:nvSpPr>
        <p:spPr>
          <a:xfrm>
            <a:off x="6412362" y="2821491"/>
            <a:ext cx="4645152" cy="2637371"/>
          </a:xfrm>
        </p:spPr>
        <p:txBody>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7" name="Date Placeholder 6"/>
          <p:cNvSpPr>
            <a:spLocks noGrp="1"/>
          </p:cNvSpPr>
          <p:nvPr>
            <p:ph type="dt" sz="half" idx="10"/>
          </p:nvPr>
        </p:nvSpPr>
        <p:spPr/>
        <p:txBody>
          <a:bodyPr/>
          <a:lstStyle/>
          <a:p>
            <a:fld id="{B0842E80-3087-47F6-8C00-FB0FC30DAD26}" type="datetime1">
              <a:rPr lang="en-US" smtClean="0"/>
              <a:t>10/19/26</a:t>
            </a:fld>
            <a:endParaRPr lang="x-none"/>
          </a:p>
        </p:txBody>
      </p:sp>
      <p:sp>
        <p:nvSpPr>
          <p:cNvPr id="8" name="Footer Placeholder 7"/>
          <p:cNvSpPr>
            <a:spLocks noGrp="1"/>
          </p:cNvSpPr>
          <p:nvPr>
            <p:ph type="ftr" sz="quarter" idx="11"/>
          </p:nvPr>
        </p:nvSpPr>
        <p:spPr/>
        <p:txBody>
          <a:bodyPr/>
          <a:lstStyle/>
          <a:p>
            <a:endParaRPr lang="x-none"/>
          </a:p>
        </p:txBody>
      </p:sp>
      <p:sp>
        <p:nvSpPr>
          <p:cNvPr id="9" name="Slide Number Placeholder 8"/>
          <p:cNvSpPr>
            <a:spLocks noGrp="1"/>
          </p:cNvSpPr>
          <p:nvPr>
            <p:ph type="sldNum" sz="quarter" idx="12"/>
          </p:nvPr>
        </p:nvSpPr>
        <p:spPr/>
        <p:txBody>
          <a:bodyPr/>
          <a:lstStyle/>
          <a:p>
            <a:fld id="{A0E71F06-E3F5-E242-AD46-023EB074373D}" type="slidenum">
              <a:rPr lang="x-none" smtClean="0"/>
              <a:t>‹#›</a:t>
            </a:fld>
            <a:endParaRPr lang="x-none"/>
          </a:p>
        </p:txBody>
      </p:sp>
      <p:cxnSp>
        <p:nvCxnSpPr>
          <p:cNvPr id="29" name="Straight Connector 28"/>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434156698"/>
      </p:ext>
    </p:extLst>
  </p:cSld>
  <p:clrMapOvr>
    <a:masterClrMapping/>
  </p:clrMapOvr>
  <p:transition spd="slow">
    <p:wip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noProof="0"/>
              <a:t>Click to edit Master title style</a:t>
            </a:r>
          </a:p>
        </p:txBody>
      </p:sp>
      <p:sp>
        <p:nvSpPr>
          <p:cNvPr id="3" name="Date Placeholder 2"/>
          <p:cNvSpPr>
            <a:spLocks noGrp="1"/>
          </p:cNvSpPr>
          <p:nvPr>
            <p:ph type="dt" sz="half" idx="10"/>
          </p:nvPr>
        </p:nvSpPr>
        <p:spPr/>
        <p:txBody>
          <a:bodyPr/>
          <a:lstStyle/>
          <a:p>
            <a:fld id="{84FFED72-9BD7-4399-9200-66053BD97ABB}" type="datetime1">
              <a:rPr lang="en-US" smtClean="0"/>
              <a:t>10/19/26</a:t>
            </a:fld>
            <a:endParaRPr lang="x-none"/>
          </a:p>
        </p:txBody>
      </p:sp>
      <p:sp>
        <p:nvSpPr>
          <p:cNvPr id="4" name="Footer Placeholder 3"/>
          <p:cNvSpPr>
            <a:spLocks noGrp="1"/>
          </p:cNvSpPr>
          <p:nvPr>
            <p:ph type="ftr" sz="quarter" idx="11"/>
          </p:nvPr>
        </p:nvSpPr>
        <p:spPr/>
        <p:txBody>
          <a:bodyPr/>
          <a:lstStyle/>
          <a:p>
            <a:endParaRPr lang="x-none"/>
          </a:p>
        </p:txBody>
      </p:sp>
      <p:sp>
        <p:nvSpPr>
          <p:cNvPr id="5" name="Slide Number Placeholder 4"/>
          <p:cNvSpPr>
            <a:spLocks noGrp="1"/>
          </p:cNvSpPr>
          <p:nvPr>
            <p:ph type="sldNum" sz="quarter" idx="12"/>
          </p:nvPr>
        </p:nvSpPr>
        <p:spPr/>
        <p:txBody>
          <a:bodyPr/>
          <a:lstStyle/>
          <a:p>
            <a:fld id="{A0E71F06-E3F5-E242-AD46-023EB074373D}" type="slidenum">
              <a:rPr lang="x-none" smtClean="0"/>
              <a:t>‹#›</a:t>
            </a:fld>
            <a:endParaRPr lang="x-none"/>
          </a:p>
        </p:txBody>
      </p:sp>
      <p:cxnSp>
        <p:nvCxnSpPr>
          <p:cNvPr id="25" name="Straight Connector 2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577834618"/>
      </p:ext>
    </p:extLst>
  </p:cSld>
  <p:clrMapOvr>
    <a:masterClrMapping/>
  </p:clrMapOvr>
  <p:transition spd="slow">
    <p:wip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7E098BF-96C3-4218-879C-D5AA721EA3D3}" type="datetime1">
              <a:rPr lang="en-US" smtClean="0"/>
              <a:t>10/19/26</a:t>
            </a:fld>
            <a:endParaRPr lang="x-none"/>
          </a:p>
        </p:txBody>
      </p:sp>
      <p:sp>
        <p:nvSpPr>
          <p:cNvPr id="3" name="Footer Placeholder 2"/>
          <p:cNvSpPr>
            <a:spLocks noGrp="1"/>
          </p:cNvSpPr>
          <p:nvPr>
            <p:ph type="ftr" sz="quarter" idx="11"/>
          </p:nvPr>
        </p:nvSpPr>
        <p:spPr/>
        <p:txBody>
          <a:bodyPr/>
          <a:lstStyle/>
          <a:p>
            <a:endParaRPr lang="x-none"/>
          </a:p>
        </p:txBody>
      </p:sp>
      <p:sp>
        <p:nvSpPr>
          <p:cNvPr id="4" name="Slide Number Placeholder 3"/>
          <p:cNvSpPr>
            <a:spLocks noGrp="1"/>
          </p:cNvSpPr>
          <p:nvPr>
            <p:ph type="sldNum" sz="quarter" idx="12"/>
          </p:nvPr>
        </p:nvSpPr>
        <p:spPr/>
        <p:txBody>
          <a:bodyPr/>
          <a:lstStyle/>
          <a:p>
            <a:fld id="{A0E71F06-E3F5-E242-AD46-023EB074373D}" type="slidenum">
              <a:rPr lang="x-none" smtClean="0"/>
              <a:t>‹#›</a:t>
            </a:fld>
            <a:endParaRPr lang="x-none"/>
          </a:p>
        </p:txBody>
      </p:sp>
    </p:spTree>
    <p:extLst>
      <p:ext uri="{BB962C8B-B14F-4D97-AF65-F5344CB8AC3E}">
        <p14:creationId xmlns:p14="http://schemas.microsoft.com/office/powerpoint/2010/main" val="2973150348"/>
      </p:ext>
    </p:extLst>
  </p:cSld>
  <p:clrMapOvr>
    <a:masterClrMapping/>
  </p:clrMapOvr>
  <p:transition spd="slow">
    <p:wipe/>
  </p:transition>
  <p:extLst>
    <p:ext uri="{DCECCB84-F9BA-43D5-87BE-67443E8EF086}">
      <p15:sldGuideLst xmlns:p15="http://schemas.microsoft.com/office/powerpoint/2012/main"/>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4671" y="798973"/>
            <a:ext cx="3273099" cy="2247117"/>
          </a:xfrm>
        </p:spPr>
        <p:txBody>
          <a:bodyPr anchor="b">
            <a:normAutofit/>
          </a:bodyPr>
          <a:lstStyle>
            <a:lvl1pPr algn="l">
              <a:defRPr sz="2400"/>
            </a:lvl1pPr>
          </a:lstStyle>
          <a:p>
            <a:r>
              <a:rPr lang="en-US" noProof="0"/>
              <a:t>Click to edit Master title style</a:t>
            </a:r>
          </a:p>
        </p:txBody>
      </p:sp>
      <p:sp>
        <p:nvSpPr>
          <p:cNvPr id="3" name="Content Placeholder 2"/>
          <p:cNvSpPr>
            <a:spLocks noGrp="1"/>
          </p:cNvSpPr>
          <p:nvPr>
            <p:ph idx="1"/>
          </p:nvPr>
        </p:nvSpPr>
        <p:spPr>
          <a:xfrm>
            <a:off x="5043714" y="798974"/>
            <a:ext cx="6012470" cy="4658826"/>
          </a:xfrm>
        </p:spPr>
        <p:txBody>
          <a:bodyPr anchor="ct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4" name="Text Placeholder 3"/>
          <p:cNvSpPr>
            <a:spLocks noGrp="1"/>
          </p:cNvSpPr>
          <p:nvPr>
            <p:ph type="body" sz="half" idx="2"/>
          </p:nvPr>
        </p:nvSpPr>
        <p:spPr>
          <a:xfrm>
            <a:off x="1444671" y="3205491"/>
            <a:ext cx="3275013" cy="2248181"/>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noProof="0"/>
              <a:t>Click to edit Master text styles</a:t>
            </a:r>
          </a:p>
        </p:txBody>
      </p:sp>
      <p:sp>
        <p:nvSpPr>
          <p:cNvPr id="5" name="Date Placeholder 4"/>
          <p:cNvSpPr>
            <a:spLocks noGrp="1"/>
          </p:cNvSpPr>
          <p:nvPr>
            <p:ph type="dt" sz="half" idx="10"/>
          </p:nvPr>
        </p:nvSpPr>
        <p:spPr/>
        <p:txBody>
          <a:bodyPr/>
          <a:lstStyle/>
          <a:p>
            <a:fld id="{E7E77736-F427-451A-82C7-EBAACB958568}" type="datetime1">
              <a:rPr lang="en-US" smtClean="0"/>
              <a:t>10/19/26</a:t>
            </a:fld>
            <a:endParaRPr lang="x-none"/>
          </a:p>
        </p:txBody>
      </p:sp>
      <p:sp>
        <p:nvSpPr>
          <p:cNvPr id="6" name="Footer Placeholder 5"/>
          <p:cNvSpPr>
            <a:spLocks noGrp="1"/>
          </p:cNvSpPr>
          <p:nvPr>
            <p:ph type="ftr" sz="quarter" idx="11"/>
          </p:nvPr>
        </p:nvSpPr>
        <p:spPr/>
        <p:txBody>
          <a:bodyPr/>
          <a:lstStyle/>
          <a:p>
            <a:endParaRPr lang="x-none"/>
          </a:p>
        </p:txBody>
      </p:sp>
      <p:sp>
        <p:nvSpPr>
          <p:cNvPr id="7" name="Slide Number Placeholder 6"/>
          <p:cNvSpPr>
            <a:spLocks noGrp="1"/>
          </p:cNvSpPr>
          <p:nvPr>
            <p:ph type="sldNum" sz="quarter" idx="12"/>
          </p:nvPr>
        </p:nvSpPr>
        <p:spPr/>
        <p:txBody>
          <a:bodyPr/>
          <a:lstStyle/>
          <a:p>
            <a:fld id="{A0E71F06-E3F5-E242-AD46-023EB074373D}" type="slidenum">
              <a:rPr lang="x-none" smtClean="0"/>
              <a:t>‹#›</a:t>
            </a:fld>
            <a:endParaRPr lang="x-none"/>
          </a:p>
        </p:txBody>
      </p:sp>
      <p:cxnSp>
        <p:nvCxnSpPr>
          <p:cNvPr id="17" name="Straight Connector 16"/>
          <p:cNvCxnSpPr/>
          <p:nvPr/>
        </p:nvCxnSpPr>
        <p:spPr>
          <a:xfrm>
            <a:off x="1448280" y="3205491"/>
            <a:ext cx="3269490"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154644069"/>
      </p:ext>
    </p:extLst>
  </p:cSld>
  <p:clrMapOvr>
    <a:masterClrMapping/>
  </p:clrMapOvr>
  <p:transition spd="slow">
    <p:wipe/>
  </p:transition>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8" name="Group 7"/>
          <p:cNvGrpSpPr/>
          <p:nvPr/>
        </p:nvGrpSpPr>
        <p:grpSpPr>
          <a:xfrm>
            <a:off x="7477387" y="482170"/>
            <a:ext cx="4074533" cy="5149101"/>
            <a:chOff x="7477387" y="482170"/>
            <a:chExt cx="4074533" cy="5149101"/>
          </a:xfrm>
        </p:grpSpPr>
        <p:sp>
          <p:nvSpPr>
            <p:cNvPr id="18" name="Rectangle 17"/>
            <p:cNvSpPr/>
            <p:nvPr/>
          </p:nvSpPr>
          <p:spPr bwMode="black">
            <a:xfrm>
              <a:off x="7477387" y="482170"/>
              <a:ext cx="4074533" cy="5149101"/>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sp>
        <p:sp>
          <p:nvSpPr>
            <p:cNvPr id="19" name="Rectangle 18"/>
            <p:cNvSpPr/>
            <p:nvPr/>
          </p:nvSpPr>
          <p:spPr bwMode="blackWhite">
            <a:xfrm>
              <a:off x="7790446" y="812506"/>
              <a:ext cx="3450289"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451206" y="1129513"/>
            <a:ext cx="5532328" cy="1830584"/>
          </a:xfrm>
        </p:spPr>
        <p:txBody>
          <a:bodyPr anchor="b">
            <a:normAutofit/>
          </a:bodyPr>
          <a:lstStyle>
            <a:lvl1pPr>
              <a:defRPr sz="3200"/>
            </a:lvl1pPr>
          </a:lstStyle>
          <a:p>
            <a:r>
              <a:rPr lang="en-US" noProof="0"/>
              <a:t>Click to edit Master title style</a:t>
            </a:r>
          </a:p>
        </p:txBody>
      </p:sp>
      <p:sp>
        <p:nvSpPr>
          <p:cNvPr id="3" name="Picture Placeholder 2"/>
          <p:cNvSpPr>
            <a:spLocks noGrp="1" noChangeAspect="1"/>
          </p:cNvSpPr>
          <p:nvPr>
            <p:ph type="pic" idx="1"/>
          </p:nvPr>
        </p:nvSpPr>
        <p:spPr>
          <a:xfrm>
            <a:off x="8124389" y="1122542"/>
            <a:ext cx="2791171" cy="3866327"/>
          </a:xfrm>
          <a:solidFill>
            <a:schemeClr val="bg1">
              <a:lumMod val="85000"/>
            </a:schemeClr>
          </a:solidFill>
          <a:ln w="9525" cap="sq">
            <a:noFill/>
            <a:miter lim="800000"/>
          </a:ln>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noProof="0"/>
              <a:t>Click icon to add picture</a:t>
            </a:r>
            <a:endParaRPr lang="en-US" noProof="0" dirty="0"/>
          </a:p>
        </p:txBody>
      </p:sp>
      <p:sp>
        <p:nvSpPr>
          <p:cNvPr id="4" name="Text Placeholder 3"/>
          <p:cNvSpPr>
            <a:spLocks noGrp="1"/>
          </p:cNvSpPr>
          <p:nvPr>
            <p:ph type="body" sz="half" idx="2"/>
          </p:nvPr>
        </p:nvSpPr>
        <p:spPr>
          <a:xfrm>
            <a:off x="1450329" y="3145992"/>
            <a:ext cx="5524404" cy="2003742"/>
          </a:xfrm>
        </p:spPr>
        <p:txBody>
          <a:bodyPr>
            <a:normAutofit/>
          </a:bodyPr>
          <a:lstStyle>
            <a:lvl1pPr marL="0" indent="0" algn="l">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noProof="0"/>
              <a:t>Click to edit Master text styles</a:t>
            </a:r>
          </a:p>
        </p:txBody>
      </p:sp>
      <p:sp>
        <p:nvSpPr>
          <p:cNvPr id="5" name="Date Placeholder 4"/>
          <p:cNvSpPr>
            <a:spLocks noGrp="1"/>
          </p:cNvSpPr>
          <p:nvPr>
            <p:ph type="dt" sz="half" idx="10"/>
          </p:nvPr>
        </p:nvSpPr>
        <p:spPr>
          <a:xfrm>
            <a:off x="1447382" y="5469856"/>
            <a:ext cx="5527351" cy="320123"/>
          </a:xfrm>
        </p:spPr>
        <p:txBody>
          <a:bodyPr/>
          <a:lstStyle>
            <a:lvl1pPr algn="l">
              <a:defRPr/>
            </a:lvl1pPr>
          </a:lstStyle>
          <a:p>
            <a:fld id="{2D2BB280-C049-470C-85ED-891580164EA2}" type="datetime1">
              <a:rPr lang="en-US" smtClean="0"/>
              <a:t>10/19/26</a:t>
            </a:fld>
            <a:endParaRPr lang="x-none"/>
          </a:p>
        </p:txBody>
      </p:sp>
      <p:sp>
        <p:nvSpPr>
          <p:cNvPr id="6" name="Footer Placeholder 5"/>
          <p:cNvSpPr>
            <a:spLocks noGrp="1"/>
          </p:cNvSpPr>
          <p:nvPr>
            <p:ph type="ftr" sz="quarter" idx="11"/>
          </p:nvPr>
        </p:nvSpPr>
        <p:spPr>
          <a:xfrm>
            <a:off x="1447382" y="318640"/>
            <a:ext cx="5541004" cy="320931"/>
          </a:xfrm>
        </p:spPr>
        <p:txBody>
          <a:bodyPr/>
          <a:lstStyle/>
          <a:p>
            <a:endParaRPr lang="x-none"/>
          </a:p>
        </p:txBody>
      </p:sp>
      <p:sp>
        <p:nvSpPr>
          <p:cNvPr id="7" name="Slide Number Placeholder 6"/>
          <p:cNvSpPr>
            <a:spLocks noGrp="1"/>
          </p:cNvSpPr>
          <p:nvPr>
            <p:ph type="sldNum" sz="quarter" idx="12"/>
          </p:nvPr>
        </p:nvSpPr>
        <p:spPr/>
        <p:txBody>
          <a:bodyPr/>
          <a:lstStyle/>
          <a:p>
            <a:fld id="{A0E71F06-E3F5-E242-AD46-023EB074373D}" type="slidenum">
              <a:rPr lang="x-none" smtClean="0"/>
              <a:t>‹#›</a:t>
            </a:fld>
            <a:endParaRPr lang="x-none"/>
          </a:p>
        </p:txBody>
      </p:sp>
      <p:cxnSp>
        <p:nvCxnSpPr>
          <p:cNvPr id="31" name="Straight Connector 30"/>
          <p:cNvCxnSpPr/>
          <p:nvPr/>
        </p:nvCxnSpPr>
        <p:spPr>
          <a:xfrm>
            <a:off x="1447382" y="3143605"/>
            <a:ext cx="5527351"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948043110"/>
      </p:ext>
    </p:extLst>
  </p:cSld>
  <p:clrMapOvr>
    <a:masterClrMapping/>
  </p:clrMapOvr>
  <p:transition spd="slow">
    <p:wip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noProof="0"/>
              <a:t>Click to edit Master title style</a:t>
            </a:r>
          </a:p>
        </p:txBody>
      </p:sp>
      <p:sp>
        <p:nvSpPr>
          <p:cNvPr id="3" name="Vertical Text Placeholder 2"/>
          <p:cNvSpPr>
            <a:spLocks noGrp="1"/>
          </p:cNvSpPr>
          <p:nvPr>
            <p:ph type="body" orient="vert" idx="1"/>
          </p:nvPr>
        </p:nvSpPr>
        <p:spPr/>
        <p:txBody>
          <a:bodyPr vert="eaVert"/>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4" name="Date Placeholder 3"/>
          <p:cNvSpPr>
            <a:spLocks noGrp="1"/>
          </p:cNvSpPr>
          <p:nvPr>
            <p:ph type="dt" sz="half" idx="10"/>
          </p:nvPr>
        </p:nvSpPr>
        <p:spPr/>
        <p:txBody>
          <a:bodyPr/>
          <a:lstStyle/>
          <a:p>
            <a:fld id="{835B32D2-23DF-4E6D-8046-A94459FEA53D}" type="datetime1">
              <a:rPr lang="en-US" smtClean="0"/>
              <a:t>10/19/26</a:t>
            </a:fld>
            <a:endParaRPr lang="x-none"/>
          </a:p>
        </p:txBody>
      </p:sp>
      <p:sp>
        <p:nvSpPr>
          <p:cNvPr id="5" name="Footer Placeholder 4"/>
          <p:cNvSpPr>
            <a:spLocks noGrp="1"/>
          </p:cNvSpPr>
          <p:nvPr>
            <p:ph type="ftr" sz="quarter" idx="11"/>
          </p:nvPr>
        </p:nvSpPr>
        <p:spPr/>
        <p:txBody>
          <a:bodyPr/>
          <a:lstStyle/>
          <a:p>
            <a:endParaRPr lang="x-none"/>
          </a:p>
        </p:txBody>
      </p:sp>
      <p:sp>
        <p:nvSpPr>
          <p:cNvPr id="6" name="Slide Number Placeholder 5"/>
          <p:cNvSpPr>
            <a:spLocks noGrp="1"/>
          </p:cNvSpPr>
          <p:nvPr>
            <p:ph type="sldNum" sz="quarter" idx="12"/>
          </p:nvPr>
        </p:nvSpPr>
        <p:spPr/>
        <p:txBody>
          <a:bodyPr/>
          <a:lstStyle/>
          <a:p>
            <a:fld id="{A0E71F06-E3F5-E242-AD46-023EB074373D}" type="slidenum">
              <a:rPr lang="x-none" smtClean="0"/>
              <a:t>‹#›</a:t>
            </a:fld>
            <a:endParaRPr lang="x-none"/>
          </a:p>
        </p:txBody>
      </p:sp>
      <p:cxnSp>
        <p:nvCxnSpPr>
          <p:cNvPr id="26" name="Straight Connector 25"/>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4053797618"/>
      </p:ext>
    </p:extLst>
  </p:cSld>
  <p:clrMapOvr>
    <a:masterClrMapping/>
  </p:clrMapOvr>
  <p:transition spd="slow">
    <p:wip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439111" y="798973"/>
            <a:ext cx="1615742" cy="4659889"/>
          </a:xfrm>
        </p:spPr>
        <p:txBody>
          <a:bodyPr vert="eaVert"/>
          <a:lstStyle>
            <a:lvl1pPr algn="l">
              <a:defRPr/>
            </a:lvl1pPr>
          </a:lstStyle>
          <a:p>
            <a:r>
              <a:rPr lang="en-US" noProof="0"/>
              <a:t>Click to edit Master title style</a:t>
            </a:r>
          </a:p>
        </p:txBody>
      </p:sp>
      <p:sp>
        <p:nvSpPr>
          <p:cNvPr id="3" name="Vertical Text Placeholder 2"/>
          <p:cNvSpPr>
            <a:spLocks noGrp="1"/>
          </p:cNvSpPr>
          <p:nvPr>
            <p:ph type="body" orient="vert" idx="1"/>
          </p:nvPr>
        </p:nvSpPr>
        <p:spPr>
          <a:xfrm>
            <a:off x="1444672" y="798973"/>
            <a:ext cx="7828830" cy="4659889"/>
          </a:xfrm>
        </p:spPr>
        <p:txBody>
          <a:bodyPr vert="eaVert"/>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4" name="Date Placeholder 3"/>
          <p:cNvSpPr>
            <a:spLocks noGrp="1"/>
          </p:cNvSpPr>
          <p:nvPr>
            <p:ph type="dt" sz="half" idx="10"/>
          </p:nvPr>
        </p:nvSpPr>
        <p:spPr/>
        <p:txBody>
          <a:bodyPr/>
          <a:lstStyle/>
          <a:p>
            <a:fld id="{F56B8B77-3611-40E8-A318-9899FF4E5824}" type="datetime1">
              <a:rPr lang="en-US" smtClean="0"/>
              <a:t>10/19/26</a:t>
            </a:fld>
            <a:endParaRPr lang="x-none"/>
          </a:p>
        </p:txBody>
      </p:sp>
      <p:sp>
        <p:nvSpPr>
          <p:cNvPr id="5" name="Footer Placeholder 4"/>
          <p:cNvSpPr>
            <a:spLocks noGrp="1"/>
          </p:cNvSpPr>
          <p:nvPr>
            <p:ph type="ftr" sz="quarter" idx="11"/>
          </p:nvPr>
        </p:nvSpPr>
        <p:spPr/>
        <p:txBody>
          <a:bodyPr/>
          <a:lstStyle/>
          <a:p>
            <a:endParaRPr lang="x-none"/>
          </a:p>
        </p:txBody>
      </p:sp>
      <p:sp>
        <p:nvSpPr>
          <p:cNvPr id="6" name="Slide Number Placeholder 5"/>
          <p:cNvSpPr>
            <a:spLocks noGrp="1"/>
          </p:cNvSpPr>
          <p:nvPr>
            <p:ph type="sldNum" sz="quarter" idx="12"/>
          </p:nvPr>
        </p:nvSpPr>
        <p:spPr/>
        <p:txBody>
          <a:bodyPr/>
          <a:lstStyle/>
          <a:p>
            <a:fld id="{A0E71F06-E3F5-E242-AD46-023EB074373D}" type="slidenum">
              <a:rPr lang="x-none" smtClean="0"/>
              <a:t>‹#›</a:t>
            </a:fld>
            <a:endParaRPr lang="x-none"/>
          </a:p>
        </p:txBody>
      </p:sp>
      <p:cxnSp>
        <p:nvCxnSpPr>
          <p:cNvPr id="15" name="Straight Connector 14"/>
          <p:cNvCxnSpPr/>
          <p:nvPr/>
        </p:nvCxnSpPr>
        <p:spPr>
          <a:xfrm>
            <a:off x="9439111" y="798973"/>
            <a:ext cx="0" cy="4659889"/>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52675573"/>
      </p:ext>
    </p:extLst>
  </p:cSld>
  <p:clrMapOvr>
    <a:masterClrMapping/>
  </p:clrMapOvr>
  <p:transition spd="slow">
    <p:wipe/>
  </p:transition>
  <p:extLst>
    <p:ext uri="{DCECCB84-F9BA-43D5-87BE-67443E8EF086}">
      <p15:sldGuideLst xmlns:p15="http://schemas.microsoft.com/office/powerpoint/2012/main"/>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pattFill prst="pct5">
          <a:fgClr>
            <a:prstClr val="white"/>
          </a:fgClr>
          <a:bgClr>
            <a:schemeClr val="bg1"/>
          </a:bgClr>
        </a:pattFill>
        <a:effectLst/>
      </p:bgPr>
    </p:bg>
    <p:spTree>
      <p:nvGrpSpPr>
        <p:cNvPr id="1" name=""/>
        <p:cNvGrpSpPr/>
        <p:nvPr/>
      </p:nvGrpSpPr>
      <p:grpSpPr>
        <a:xfrm>
          <a:off x="0" y="0"/>
          <a:ext cx="0" cy="0"/>
          <a:chOff x="0" y="0"/>
          <a:chExt cx="0" cy="0"/>
        </a:xfrm>
      </p:grpSpPr>
      <p:sp>
        <p:nvSpPr>
          <p:cNvPr id="8" name="Rectangle 7"/>
          <p:cNvSpPr/>
          <p:nvPr/>
        </p:nvSpPr>
        <p:spPr>
          <a:xfrm>
            <a:off x="0" y="2019476"/>
            <a:ext cx="12192000" cy="4838524"/>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Placeholder 1"/>
          <p:cNvSpPr>
            <a:spLocks noGrp="1"/>
          </p:cNvSpPr>
          <p:nvPr>
            <p:ph type="title"/>
          </p:nvPr>
        </p:nvSpPr>
        <p:spPr>
          <a:xfrm>
            <a:off x="1451579" y="804519"/>
            <a:ext cx="9603275" cy="1049235"/>
          </a:xfrm>
          <a:prstGeom prst="rect">
            <a:avLst/>
          </a:prstGeom>
        </p:spPr>
        <p:txBody>
          <a:bodyPr vert="horz" lIns="91440" tIns="45720" rIns="91440" bIns="45720" rtlCol="0" anchor="t">
            <a:normAutofit/>
          </a:bodyPr>
          <a:lstStyle/>
          <a:p>
            <a:r>
              <a:rPr lang="en-US" noProof="0"/>
              <a:t>Click to edit Master title style</a:t>
            </a:r>
          </a:p>
        </p:txBody>
      </p:sp>
      <p:sp>
        <p:nvSpPr>
          <p:cNvPr id="3" name="Text Placeholder 2"/>
          <p:cNvSpPr>
            <a:spLocks noGrp="1"/>
          </p:cNvSpPr>
          <p:nvPr>
            <p:ph type="body" idx="1"/>
          </p:nvPr>
        </p:nvSpPr>
        <p:spPr>
          <a:xfrm>
            <a:off x="1451579" y="2015732"/>
            <a:ext cx="9603275" cy="3450613"/>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4" name="Date Placeholder 3"/>
          <p:cNvSpPr>
            <a:spLocks noGrp="1"/>
          </p:cNvSpPr>
          <p:nvPr>
            <p:ph type="dt" sz="half" idx="2"/>
          </p:nvPr>
        </p:nvSpPr>
        <p:spPr>
          <a:xfrm>
            <a:off x="7554138" y="330370"/>
            <a:ext cx="3500715" cy="309201"/>
          </a:xfrm>
          <a:prstGeom prst="rect">
            <a:avLst/>
          </a:prstGeom>
        </p:spPr>
        <p:txBody>
          <a:bodyPr vert="horz" lIns="91440" tIns="45720" rIns="91440" bIns="45720" rtlCol="0" anchor="ctr"/>
          <a:lstStyle>
            <a:lvl1pPr algn="r">
              <a:defRPr sz="1000">
                <a:solidFill>
                  <a:schemeClr val="tx1">
                    <a:tint val="75000"/>
                  </a:schemeClr>
                </a:solidFill>
              </a:defRPr>
            </a:lvl1pPr>
          </a:lstStyle>
          <a:p>
            <a:fld id="{39C59D39-C5B6-4FED-8E7E-289F05927B8C}" type="datetime1">
              <a:rPr lang="en-US" smtClean="0"/>
              <a:t>10/19/26</a:t>
            </a:fld>
            <a:endParaRPr lang="x-none"/>
          </a:p>
        </p:txBody>
      </p:sp>
      <p:sp>
        <p:nvSpPr>
          <p:cNvPr id="5" name="Footer Placeholder 4"/>
          <p:cNvSpPr>
            <a:spLocks noGrp="1"/>
          </p:cNvSpPr>
          <p:nvPr>
            <p:ph type="ftr" sz="quarter" idx="3"/>
          </p:nvPr>
        </p:nvSpPr>
        <p:spPr>
          <a:xfrm>
            <a:off x="1451579" y="329307"/>
            <a:ext cx="5938836" cy="309201"/>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x-none"/>
          </a:p>
        </p:txBody>
      </p:sp>
      <p:sp>
        <p:nvSpPr>
          <p:cNvPr id="6" name="Slide Number Placeholder 5"/>
          <p:cNvSpPr>
            <a:spLocks noGrp="1"/>
          </p:cNvSpPr>
          <p:nvPr>
            <p:ph type="sldNum" sz="quarter" idx="4"/>
          </p:nvPr>
        </p:nvSpPr>
        <p:spPr>
          <a:xfrm>
            <a:off x="480060" y="798973"/>
            <a:ext cx="811019" cy="503578"/>
          </a:xfrm>
          <a:prstGeom prst="rect">
            <a:avLst/>
          </a:prstGeom>
        </p:spPr>
        <p:txBody>
          <a:bodyPr vert="horz" lIns="91440" tIns="45720" rIns="91440" bIns="45720" rtlCol="0" anchor="t"/>
          <a:lstStyle>
            <a:lvl1pPr algn="r">
              <a:defRPr sz="2800">
                <a:solidFill>
                  <a:schemeClr val="accent1"/>
                </a:solidFill>
              </a:defRPr>
            </a:lvl1pPr>
          </a:lstStyle>
          <a:p>
            <a:fld id="{A0E71F06-E3F5-E242-AD46-023EB074373D}" type="slidenum">
              <a:rPr lang="x-none" smtClean="0"/>
              <a:t>‹#›</a:t>
            </a:fld>
            <a:endParaRPr lang="x-none"/>
          </a:p>
        </p:txBody>
      </p:sp>
    </p:spTree>
    <p:extLst>
      <p:ext uri="{BB962C8B-B14F-4D97-AF65-F5344CB8AC3E}">
        <p14:creationId xmlns:p14="http://schemas.microsoft.com/office/powerpoint/2010/main" val="430373594"/>
      </p:ext>
    </p:extLst>
  </p:cSld>
  <p:clrMap bg1="lt1" tx1="dk1" bg2="lt2" tx2="dk2" accent1="accent1" accent2="accent2" accent3="accent3" accent4="accent4" accent5="accent5" accent6="accent6" hlink="hlink" folHlink="folHlink"/>
  <p:sldLayoutIdLst>
    <p:sldLayoutId id="2147483786" r:id="rId1"/>
    <p:sldLayoutId id="2147483787" r:id="rId2"/>
    <p:sldLayoutId id="2147483788" r:id="rId3"/>
    <p:sldLayoutId id="2147483789" r:id="rId4"/>
    <p:sldLayoutId id="2147483790" r:id="rId5"/>
    <p:sldLayoutId id="2147483791" r:id="rId6"/>
    <p:sldLayoutId id="2147483792" r:id="rId7"/>
    <p:sldLayoutId id="2147483793" r:id="rId8"/>
    <p:sldLayoutId id="2147483794" r:id="rId9"/>
    <p:sldLayoutId id="2147483795" r:id="rId10"/>
    <p:sldLayoutId id="2147483796" r:id="rId11"/>
  </p:sldLayoutIdLst>
  <p:transition spd="slow">
    <p:wipe/>
  </p:transition>
  <p:hf hdr="0" ftr="0" dt="0"/>
  <p:txStyles>
    <p:titleStyle>
      <a:lvl1pPr algn="l" defTabSz="914400" rtl="0" eaLnBrk="1" latinLnBrk="0" hangingPunct="1">
        <a:lnSpc>
          <a:spcPct val="90000"/>
        </a:lnSpc>
        <a:spcBef>
          <a:spcPct val="0"/>
        </a:spcBef>
        <a:buNone/>
        <a:defRPr sz="3200" b="0" i="0" kern="1200" cap="all">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chart" Target="../charts/chart2.xml"/><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E0CD4F-CAF7-EEE4-2777-99383FB248D7}"/>
              </a:ext>
            </a:extLst>
          </p:cNvPr>
          <p:cNvSpPr>
            <a:spLocks noGrp="1"/>
          </p:cNvSpPr>
          <p:nvPr>
            <p:ph type="ctrTitle"/>
          </p:nvPr>
        </p:nvSpPr>
        <p:spPr>
          <a:xfrm>
            <a:off x="851061" y="898368"/>
            <a:ext cx="10474749" cy="2541431"/>
          </a:xfrm>
        </p:spPr>
        <p:txBody>
          <a:bodyPr>
            <a:noAutofit/>
            <a:scene3d>
              <a:camera prst="orthographicFront"/>
              <a:lightRig rig="threePt" dir="t"/>
            </a:scene3d>
            <a:sp3d>
              <a:bevelT w="463550" h="228600"/>
              <a:bevelB w="476250"/>
            </a:sp3d>
          </a:bodyPr>
          <a:lstStyle/>
          <a:p>
            <a:pPr algn="ctr"/>
            <a:r>
              <a:rPr lang="en-US" sz="5400" b="1" cap="none">
                <a:effectLst>
                  <a:outerShdw blurRad="38100" dist="38100" dir="2700000" algn="tl">
                    <a:srgbClr val="000000">
                      <a:alpha val="43137"/>
                    </a:srgbClr>
                  </a:outerShdw>
                </a:effectLst>
              </a:rPr>
              <a:t>InsuLink</a:t>
            </a:r>
            <a:endParaRPr lang="x-none" sz="4000" dirty="0">
              <a:effectLst>
                <a:outerShdw blurRad="38100" dist="38100" dir="2700000" algn="tl">
                  <a:srgbClr val="000000">
                    <a:alpha val="43137"/>
                  </a:srgbClr>
                </a:outerShdw>
              </a:effectLst>
            </a:endParaRPr>
          </a:p>
          <a:p>
            <a:pPr algn="ctr"/>
            <a:r>
              <a:rPr lang="en-US" sz="2800" b="0">
                <a:effectLst>
                  <a:outerShdw blurRad="38100" dist="38100" dir="2700000" algn="tl">
                    <a:srgbClr val="000000">
                      <a:alpha val="43137"/>
                    </a:srgbClr>
                  </a:outerShdw>
                </a:effectLst>
              </a:rPr>
              <a:t>Intelligent Glucose Management</a:t>
            </a:r>
          </a:p>
        </p:txBody>
      </p:sp>
      <p:sp>
        <p:nvSpPr>
          <p:cNvPr id="3" name="Subtitle 2">
            <a:extLst>
              <a:ext uri="{FF2B5EF4-FFF2-40B4-BE49-F238E27FC236}">
                <a16:creationId xmlns:a16="http://schemas.microsoft.com/office/drawing/2014/main" id="{A3628842-D6D2-3CBE-1065-D6A305E7BC39}"/>
              </a:ext>
            </a:extLst>
          </p:cNvPr>
          <p:cNvSpPr>
            <a:spLocks noGrp="1"/>
          </p:cNvSpPr>
          <p:nvPr>
            <p:ph type="subTitle" idx="1"/>
          </p:nvPr>
        </p:nvSpPr>
        <p:spPr>
          <a:xfrm>
            <a:off x="1769899" y="3660631"/>
            <a:ext cx="8637072" cy="2541430"/>
          </a:xfrm>
        </p:spPr>
        <p:txBody>
          <a:bodyPr>
            <a:normAutofit/>
          </a:bodyPr>
          <a:lstStyle/>
          <a:p>
            <a:pPr algn="ctr">
              <a:spcAft>
                <a:spcPts val="400"/>
              </a:spcAft>
            </a:pPr>
            <a:r>
              <a:rPr sz="2000" b="1" cap="none" dirty="0"/>
              <a:t>Graduation Project, Milestone 1</a:t>
            </a:r>
            <a:endParaRPr kumimoji="0" lang="en-US" sz="1400" b="1" i="0" u="none" strike="noStrike" cap="none" normalizeH="0" baseline="0" dirty="0">
              <a:ln>
                <a:noFill/>
              </a:ln>
              <a:effectLst/>
              <a:latin typeface="Arial" panose="020B0604020202020204" pitchFamily="34" charset="0"/>
              <a:ea typeface="Times New Roman" panose="02020603050405020304" pitchFamily="18" charset="0"/>
            </a:endParaRPr>
          </a:p>
          <a:p>
            <a:pPr algn="ctr">
              <a:spcAft>
                <a:spcPts val="400"/>
              </a:spcAft>
            </a:pPr>
            <a:r>
              <a:rPr lang="en-US" sz="1800" b="0" cap="none" dirty="0"/>
              <a:t>Ahmed </a:t>
            </a:r>
            <a:r>
              <a:rPr lang="en-US" sz="1800" b="0" cap="none" err="1"/>
              <a:t>Abdelsalam</a:t>
            </a:r>
            <a:r>
              <a:rPr lang="en-US" sz="1800" b="0" cap="none"/>
              <a:t>,  </a:t>
            </a:r>
            <a:r>
              <a:rPr sz="1800" b="0" cap="none"/>
              <a:t>Youssef</a:t>
            </a:r>
            <a:r>
              <a:rPr lang="en-US" sz="1800" b="0" cap="none"/>
              <a:t> </a:t>
            </a:r>
            <a:r>
              <a:rPr lang="en-US" sz="1800" b="0" cap="none" dirty="0"/>
              <a:t>Gharib</a:t>
            </a:r>
            <a:r>
              <a:rPr sz="1800" b="0" cap="none" dirty="0"/>
              <a:t>,</a:t>
            </a:r>
            <a:r>
              <a:rPr lang="en-US" sz="1800" b="0" cap="none" dirty="0"/>
              <a:t> Mohamed</a:t>
            </a:r>
            <a:r>
              <a:rPr sz="1800" b="0" cap="none" dirty="0"/>
              <a:t> Emad, Omar</a:t>
            </a:r>
            <a:r>
              <a:rPr lang="en-US" sz="1800" b="0" cap="none" dirty="0"/>
              <a:t> Wael</a:t>
            </a:r>
            <a:endParaRPr sz="1800" b="0" cap="none" dirty="0"/>
          </a:p>
          <a:p>
            <a:pPr algn="ctr">
              <a:spcAft>
                <a:spcPts val="400"/>
              </a:spcAft>
            </a:pPr>
            <a:r>
              <a:rPr sz="1600" b="0" cap="none" dirty="0"/>
              <a:t>Supervisor</a:t>
            </a:r>
            <a:r>
              <a:rPr lang="en-US" sz="1600" b="0" cap="none" dirty="0"/>
              <a:t>: Dr. </a:t>
            </a:r>
            <a:r>
              <a:rPr lang="en-US" sz="1600" cap="none" dirty="0"/>
              <a:t>Raghda</a:t>
            </a:r>
          </a:p>
          <a:p>
            <a:pPr algn="ctr">
              <a:spcAft>
                <a:spcPts val="400"/>
              </a:spcAft>
            </a:pPr>
            <a:r>
              <a:rPr lang="en-US" sz="1600" b="0" cap="none" dirty="0"/>
              <a:t>School of Computing, ESLSCA University  |</a:t>
            </a:r>
          </a:p>
        </p:txBody>
      </p:sp>
      <p:pic>
        <p:nvPicPr>
          <p:cNvPr id="8" name="Picture 7">
            <a:extLst>
              <a:ext uri="{FF2B5EF4-FFF2-40B4-BE49-F238E27FC236}">
                <a16:creationId xmlns:a16="http://schemas.microsoft.com/office/drawing/2014/main" id="{CF66A2AD-F7E6-EC38-ADDB-D92C4B292940}"/>
              </a:ext>
            </a:extLst>
          </p:cNvPr>
          <p:cNvPicPr>
            <a:picLocks noChangeAspect="1"/>
          </p:cNvPicPr>
          <p:nvPr/>
        </p:nvPicPr>
        <p:blipFill>
          <a:blip r:embed="rId3"/>
          <a:stretch>
            <a:fillRect/>
          </a:stretch>
        </p:blipFill>
        <p:spPr>
          <a:xfrm>
            <a:off x="10322731" y="239910"/>
            <a:ext cx="1282891" cy="1217521"/>
          </a:xfrm>
          <a:prstGeom prst="rect">
            <a:avLst/>
          </a:prstGeom>
        </p:spPr>
      </p:pic>
    </p:spTree>
    <p:extLst>
      <p:ext uri="{BB962C8B-B14F-4D97-AF65-F5344CB8AC3E}">
        <p14:creationId xmlns:p14="http://schemas.microsoft.com/office/powerpoint/2010/main" val="1880881881"/>
      </p:ext>
    </p:extLst>
  </p:cSld>
  <p:clrMapOvr>
    <a:masterClrMapping/>
  </p:clrMapOvr>
  <p:transition spd="slow">
    <p:wip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ctr"/>
          <a:lstStyle/>
          <a:p>
            <a:r>
              <a:rPr lang="en-US" dirty="0">
                <a:effectLst>
                  <a:outerShdw blurRad="38100" dist="38100" dir="2700000" algn="tl">
                    <a:srgbClr val="000000">
                      <a:alpha val="43137"/>
                    </a:srgbClr>
                  </a:outerShdw>
                </a:effectLst>
              </a:rPr>
              <a:t>Outline</a:t>
            </a:r>
          </a:p>
        </p:txBody>
      </p:sp>
      <p:sp>
        <p:nvSpPr>
          <p:cNvPr id="3" name="Content Placeholder 2"/>
          <p:cNvSpPr>
            <a:spLocks noGrp="1"/>
          </p:cNvSpPr>
          <p:nvPr>
            <p:ph idx="1"/>
          </p:nvPr>
        </p:nvSpPr>
        <p:spPr>
          <a:xfrm>
            <a:off x="1451579" y="2015732"/>
            <a:ext cx="9603275" cy="4363803"/>
          </a:xfrm>
        </p:spPr>
        <p:txBody>
          <a:bodyPr>
            <a:normAutofit lnSpcReduction="10000"/>
          </a:bodyPr>
          <a:lstStyle/>
          <a:p>
            <a:r>
              <a:t>Introduction</a:t>
            </a:r>
          </a:p>
          <a:p>
            <a:r>
              <a:t>Research Motivation</a:t>
            </a:r>
          </a:p>
          <a:p>
            <a:r>
              <a:t>Research Problems &amp; Objectives</a:t>
            </a:r>
          </a:p>
          <a:p>
            <a:r>
              <a:t>Related Work</a:t>
            </a:r>
          </a:p>
          <a:p>
            <a:r>
              <a:t>System &amp; Software Architecture</a:t>
            </a:r>
          </a:p>
          <a:p>
            <a:r>
              <a:t>Safety Design</a:t>
            </a:r>
          </a:p>
          <a:p>
            <a:r>
              <a:t>Proposed Model, Proof of Concept &amp; Results</a:t>
            </a:r>
          </a:p>
          <a:p>
            <a:r>
              <a:t>Conclusion &amp; Future Work</a:t>
            </a:r>
          </a:p>
          <a:p>
            <a:r>
              <a:t>Demo</a:t>
            </a:r>
          </a:p>
        </p:txBody>
      </p:sp>
      <p:sp>
        <p:nvSpPr>
          <p:cNvPr id="4" name="Slide Number Placeholder 3"/>
          <p:cNvSpPr>
            <a:spLocks noGrp="1"/>
          </p:cNvSpPr>
          <p:nvPr>
            <p:ph type="sldNum" sz="quarter" idx="12"/>
          </p:nvPr>
        </p:nvSpPr>
        <p:spPr/>
        <p:txBody>
          <a:bodyPr/>
          <a:lstStyle/>
          <a:p>
            <a:fld id="{A0E71F06-E3F5-E242-AD46-023EB074373D}" type="slidenum">
              <a:rPr lang="x-none" smtClean="0"/>
              <a:t>2</a:t>
            </a:fld>
            <a:endParaRPr lang="x-none"/>
          </a:p>
        </p:txBody>
      </p:sp>
    </p:spTree>
    <p:extLst>
      <p:ext uri="{BB962C8B-B14F-4D97-AF65-F5344CB8AC3E}">
        <p14:creationId xmlns:p14="http://schemas.microsoft.com/office/powerpoint/2010/main" val="2126214997"/>
      </p:ext>
    </p:extLst>
  </p:cSld>
  <p:clrMapOvr>
    <a:masterClrMapping/>
  </p:clrMapOvr>
  <p:transition spd="slow">
    <p:wip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ctr"/>
          <a:lstStyle/>
          <a:p>
            <a:r>
              <a:rPr lang="en-US">
                <a:effectLst>
                  <a:outerShdw blurRad="38100" dist="38100" dir="2700000" algn="tl">
                    <a:srgbClr val="000000">
                      <a:alpha val="43137"/>
                    </a:srgbClr>
                  </a:outerShdw>
                </a:effectLst>
              </a:rPr>
              <a:t>Introduction	(1/2)</a:t>
            </a:r>
          </a:p>
        </p:txBody>
      </p:sp>
      <p:sp>
        <p:nvSpPr>
          <p:cNvPr id="3" name="Slide Number Placeholder 3"/>
          <p:cNvSpPr>
            <a:spLocks noGrp="1"/>
          </p:cNvSpPr>
          <p:nvPr>
            <p:ph type="sldNum" sz="quarter" idx="12"/>
          </p:nvPr>
        </p:nvSpPr>
        <p:spPr/>
        <p:txBody>
          <a:bodyPr/>
          <a:lstStyle/>
          <a:p>
            <a:fld id="{A0E71F06-E3F5-E242-AD46-023EB074373D}" type="slidenum">
              <a:rPr lang="x-none" smtClean="0"/>
              <a:t>3</a:t>
            </a:fld>
            <a:endParaRPr lang="x-none"/>
          </a:p>
        </p:txBody>
      </p:sp>
      <p:sp>
        <p:nvSpPr>
          <p:cNvPr id="4" name="Summary"/>
          <p:cNvSpPr txBox="1"/>
          <p:nvPr/>
        </p:nvSpPr>
        <p:spPr>
          <a:xfrm>
            <a:off x="1451152" y="2057400"/>
            <a:ext cx="9603943" cy="1280160"/>
          </a:xfrm>
          <a:prstGeom prst="rect">
            <a:avLst/>
          </a:prstGeom>
          <a:noFill/>
        </p:spPr>
        <p:txBody>
          <a:bodyPr wrap="square" lIns="0" tIns="0" rIns="0" bIns="0" anchor="t">
            <a:noAutofit/>
          </a:bodyPr>
          <a:lstStyle/>
          <a:p>
            <a:pPr algn="l">
              <a:lnSpc>
                <a:spcPct val="105000"/>
              </a:lnSpc>
            </a:pPr>
            <a:r>
              <a:rPr sz="2000" b="0" i="0">
                <a:solidFill>
                  <a:schemeClr val="tx2"/>
                </a:solidFill>
              </a:rPr>
              <a:t>InsuLink is a mobile app that helps people with diabetes monitor their glucose, understand how food and lifestyle affect it, and stay connected to trusted people when glucose becomes dangerous.</a:t>
            </a:r>
          </a:p>
        </p:txBody>
      </p:sp>
      <p:sp>
        <p:nvSpPr>
          <p:cNvPr id="5" name="Step 1"/>
          <p:cNvSpPr/>
          <p:nvPr/>
        </p:nvSpPr>
        <p:spPr>
          <a:xfrm>
            <a:off x="1451152" y="3611880"/>
            <a:ext cx="1293614" cy="731520"/>
          </a:xfrm>
          <a:prstGeom prst="roundRect">
            <a:avLst>
              <a:gd name="adj" fmla="val 6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27432" rIns="27432" bIns="27432" rtlCol="0" anchor="ctr">
            <a:noAutofit/>
          </a:bodyPr>
          <a:lstStyle/>
          <a:p>
            <a:pPr algn="ctr">
              <a:lnSpc>
                <a:spcPct val="105000"/>
              </a:lnSpc>
            </a:pPr>
            <a:r>
              <a:rPr sz="1400" b="1" i="0">
                <a:solidFill>
                  <a:schemeClr val="bg1"/>
                </a:solidFill>
              </a:rPr>
              <a:t>Monitor</a:t>
            </a:r>
          </a:p>
        </p:txBody>
      </p:sp>
      <p:sp>
        <p:nvSpPr>
          <p:cNvPr id="6" name="Step 1 caption"/>
          <p:cNvSpPr txBox="1"/>
          <p:nvPr/>
        </p:nvSpPr>
        <p:spPr>
          <a:xfrm>
            <a:off x="1451152" y="4462272"/>
            <a:ext cx="1293614" cy="640080"/>
          </a:xfrm>
          <a:prstGeom prst="rect">
            <a:avLst/>
          </a:prstGeom>
          <a:noFill/>
        </p:spPr>
        <p:txBody>
          <a:bodyPr wrap="square" lIns="0" tIns="0" rIns="0" bIns="0" anchor="t">
            <a:noAutofit/>
          </a:bodyPr>
          <a:lstStyle/>
          <a:p>
            <a:pPr algn="ctr">
              <a:lnSpc>
                <a:spcPct val="105000"/>
              </a:lnSpc>
            </a:pPr>
            <a:r>
              <a:rPr sz="1200" b="0" i="0">
                <a:solidFill>
                  <a:srgbClr val="5F5A54"/>
                </a:solidFill>
              </a:rPr>
              <a:t>Glucose, trends</a:t>
            </a:r>
          </a:p>
        </p:txBody>
      </p:sp>
      <p:sp>
        <p:nvSpPr>
          <p:cNvPr id="7" name="Step 2"/>
          <p:cNvSpPr/>
          <p:nvPr/>
        </p:nvSpPr>
        <p:spPr>
          <a:xfrm>
            <a:off x="2836207" y="3611880"/>
            <a:ext cx="1293614" cy="731520"/>
          </a:xfrm>
          <a:prstGeom prst="roundRect">
            <a:avLst>
              <a:gd name="adj" fmla="val 6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27432" rIns="27432" bIns="27432" rtlCol="0" anchor="ctr">
            <a:noAutofit/>
          </a:bodyPr>
          <a:lstStyle/>
          <a:p>
            <a:pPr algn="ctr">
              <a:lnSpc>
                <a:spcPct val="105000"/>
              </a:lnSpc>
            </a:pPr>
            <a:r>
              <a:rPr sz="1400" b="1" i="0">
                <a:solidFill>
                  <a:schemeClr val="bg1"/>
                </a:solidFill>
              </a:rPr>
              <a:t>Understand</a:t>
            </a:r>
          </a:p>
        </p:txBody>
      </p:sp>
      <p:sp>
        <p:nvSpPr>
          <p:cNvPr id="8" name="Step 2 caption"/>
          <p:cNvSpPr txBox="1"/>
          <p:nvPr/>
        </p:nvSpPr>
        <p:spPr>
          <a:xfrm>
            <a:off x="2836207" y="4462272"/>
            <a:ext cx="1293614" cy="640080"/>
          </a:xfrm>
          <a:prstGeom prst="rect">
            <a:avLst/>
          </a:prstGeom>
          <a:noFill/>
        </p:spPr>
        <p:txBody>
          <a:bodyPr wrap="square" lIns="0" tIns="0" rIns="0" bIns="0" anchor="t">
            <a:noAutofit/>
          </a:bodyPr>
          <a:lstStyle/>
          <a:p>
            <a:pPr algn="ctr">
              <a:lnSpc>
                <a:spcPct val="105000"/>
              </a:lnSpc>
            </a:pPr>
            <a:r>
              <a:rPr sz="1200" b="0" i="0">
                <a:solidFill>
                  <a:srgbClr val="5F5A54"/>
                </a:solidFill>
              </a:rPr>
              <a:t>Meals, insulin, activity</a:t>
            </a:r>
          </a:p>
        </p:txBody>
      </p:sp>
      <p:sp>
        <p:nvSpPr>
          <p:cNvPr id="9" name="Step 3"/>
          <p:cNvSpPr/>
          <p:nvPr/>
        </p:nvSpPr>
        <p:spPr>
          <a:xfrm>
            <a:off x="4221262" y="3611880"/>
            <a:ext cx="1293614" cy="731520"/>
          </a:xfrm>
          <a:prstGeom prst="roundRect">
            <a:avLst>
              <a:gd name="adj" fmla="val 6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27432" rIns="27432" bIns="27432" rtlCol="0" anchor="ctr">
            <a:noAutofit/>
          </a:bodyPr>
          <a:lstStyle/>
          <a:p>
            <a:pPr algn="ctr">
              <a:lnSpc>
                <a:spcPct val="105000"/>
              </a:lnSpc>
            </a:pPr>
            <a:r>
              <a:rPr sz="1400" b="1" i="0">
                <a:solidFill>
                  <a:schemeClr val="bg1"/>
                </a:solidFill>
              </a:rPr>
              <a:t>Learn</a:t>
            </a:r>
          </a:p>
        </p:txBody>
      </p:sp>
      <p:sp>
        <p:nvSpPr>
          <p:cNvPr id="10" name="Step 3 caption"/>
          <p:cNvSpPr txBox="1"/>
          <p:nvPr/>
        </p:nvSpPr>
        <p:spPr>
          <a:xfrm>
            <a:off x="4221262" y="4462272"/>
            <a:ext cx="1293614" cy="640080"/>
          </a:xfrm>
          <a:prstGeom prst="rect">
            <a:avLst/>
          </a:prstGeom>
          <a:noFill/>
        </p:spPr>
        <p:txBody>
          <a:bodyPr wrap="square" lIns="0" tIns="0" rIns="0" bIns="0" anchor="t">
            <a:noAutofit/>
          </a:bodyPr>
          <a:lstStyle/>
          <a:p>
            <a:pPr algn="ctr">
              <a:lnSpc>
                <a:spcPct val="105000"/>
              </a:lnSpc>
            </a:pPr>
            <a:r>
              <a:rPr sz="1200" b="0" i="0">
                <a:solidFill>
                  <a:srgbClr val="5F5A54"/>
                </a:solidFill>
              </a:rPr>
              <a:t>Personal profile</a:t>
            </a:r>
          </a:p>
        </p:txBody>
      </p:sp>
      <p:sp>
        <p:nvSpPr>
          <p:cNvPr id="11" name="Step 4"/>
          <p:cNvSpPr/>
          <p:nvPr/>
        </p:nvSpPr>
        <p:spPr>
          <a:xfrm>
            <a:off x="5606317" y="3611880"/>
            <a:ext cx="1293614" cy="731520"/>
          </a:xfrm>
          <a:prstGeom prst="roundRect">
            <a:avLst>
              <a:gd name="adj" fmla="val 6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27432" rIns="27432" bIns="27432" rtlCol="0" anchor="ctr">
            <a:noAutofit/>
          </a:bodyPr>
          <a:lstStyle/>
          <a:p>
            <a:pPr algn="ctr">
              <a:lnSpc>
                <a:spcPct val="105000"/>
              </a:lnSpc>
            </a:pPr>
            <a:r>
              <a:rPr sz="1400" b="1" i="0">
                <a:solidFill>
                  <a:schemeClr val="bg1"/>
                </a:solidFill>
              </a:rPr>
              <a:t>Predict</a:t>
            </a:r>
          </a:p>
        </p:txBody>
      </p:sp>
      <p:sp>
        <p:nvSpPr>
          <p:cNvPr id="12" name="Step 4 caption"/>
          <p:cNvSpPr txBox="1"/>
          <p:nvPr/>
        </p:nvSpPr>
        <p:spPr>
          <a:xfrm>
            <a:off x="5606317" y="4462272"/>
            <a:ext cx="1293614" cy="640080"/>
          </a:xfrm>
          <a:prstGeom prst="rect">
            <a:avLst/>
          </a:prstGeom>
          <a:noFill/>
        </p:spPr>
        <p:txBody>
          <a:bodyPr wrap="square" lIns="0" tIns="0" rIns="0" bIns="0" anchor="t">
            <a:noAutofit/>
          </a:bodyPr>
          <a:lstStyle/>
          <a:p>
            <a:pPr algn="ctr">
              <a:lnSpc>
                <a:spcPct val="105000"/>
              </a:lnSpc>
            </a:pPr>
            <a:r>
              <a:rPr sz="1200" b="0" i="0">
                <a:solidFill>
                  <a:srgbClr val="5F5A54"/>
                </a:solidFill>
              </a:rPr>
              <a:t>Short-term response</a:t>
            </a:r>
          </a:p>
        </p:txBody>
      </p:sp>
      <p:sp>
        <p:nvSpPr>
          <p:cNvPr id="13" name="Step 5"/>
          <p:cNvSpPr/>
          <p:nvPr/>
        </p:nvSpPr>
        <p:spPr>
          <a:xfrm>
            <a:off x="6991371" y="3611880"/>
            <a:ext cx="1293614" cy="731520"/>
          </a:xfrm>
          <a:prstGeom prst="roundRect">
            <a:avLst>
              <a:gd name="adj" fmla="val 6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27432" rIns="27432" bIns="27432" rtlCol="0" anchor="ctr">
            <a:noAutofit/>
          </a:bodyPr>
          <a:lstStyle/>
          <a:p>
            <a:pPr algn="ctr">
              <a:lnSpc>
                <a:spcPct val="105000"/>
              </a:lnSpc>
            </a:pPr>
            <a:r>
              <a:rPr sz="1400" b="1" i="0">
                <a:solidFill>
                  <a:schemeClr val="bg1"/>
                </a:solidFill>
              </a:rPr>
              <a:t>Guide</a:t>
            </a:r>
          </a:p>
        </p:txBody>
      </p:sp>
      <p:sp>
        <p:nvSpPr>
          <p:cNvPr id="14" name="Step 5 caption"/>
          <p:cNvSpPr txBox="1"/>
          <p:nvPr/>
        </p:nvSpPr>
        <p:spPr>
          <a:xfrm>
            <a:off x="6991371" y="4462272"/>
            <a:ext cx="1293614" cy="640080"/>
          </a:xfrm>
          <a:prstGeom prst="rect">
            <a:avLst/>
          </a:prstGeom>
          <a:noFill/>
        </p:spPr>
        <p:txBody>
          <a:bodyPr wrap="square" lIns="0" tIns="0" rIns="0" bIns="0" anchor="t">
            <a:noAutofit/>
          </a:bodyPr>
          <a:lstStyle/>
          <a:p>
            <a:pPr algn="ctr">
              <a:lnSpc>
                <a:spcPct val="105000"/>
              </a:lnSpc>
            </a:pPr>
            <a:r>
              <a:rPr sz="1200" b="0" i="0">
                <a:solidFill>
                  <a:srgbClr val="5F5A54"/>
                </a:solidFill>
              </a:rPr>
              <a:t>Explainable advice</a:t>
            </a:r>
          </a:p>
        </p:txBody>
      </p:sp>
      <p:sp>
        <p:nvSpPr>
          <p:cNvPr id="15" name="Step 6"/>
          <p:cNvSpPr/>
          <p:nvPr/>
        </p:nvSpPr>
        <p:spPr>
          <a:xfrm>
            <a:off x="8376426" y="3611880"/>
            <a:ext cx="1293614" cy="731520"/>
          </a:xfrm>
          <a:prstGeom prst="roundRect">
            <a:avLst>
              <a:gd name="adj" fmla="val 6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27432" rIns="27432" bIns="27432" rtlCol="0" anchor="ctr">
            <a:noAutofit/>
          </a:bodyPr>
          <a:lstStyle/>
          <a:p>
            <a:pPr algn="ctr">
              <a:lnSpc>
                <a:spcPct val="105000"/>
              </a:lnSpc>
            </a:pPr>
            <a:r>
              <a:rPr sz="1400" b="1" i="0">
                <a:solidFill>
                  <a:schemeClr val="bg1"/>
                </a:solidFill>
              </a:rPr>
              <a:t>Protect</a:t>
            </a:r>
          </a:p>
        </p:txBody>
      </p:sp>
      <p:sp>
        <p:nvSpPr>
          <p:cNvPr id="16" name="Step 6 caption"/>
          <p:cNvSpPr txBox="1"/>
          <p:nvPr/>
        </p:nvSpPr>
        <p:spPr>
          <a:xfrm>
            <a:off x="8376426" y="4462272"/>
            <a:ext cx="1293614" cy="640080"/>
          </a:xfrm>
          <a:prstGeom prst="rect">
            <a:avLst/>
          </a:prstGeom>
          <a:noFill/>
        </p:spPr>
        <p:txBody>
          <a:bodyPr wrap="square" lIns="0" tIns="0" rIns="0" bIns="0" anchor="t">
            <a:noAutofit/>
          </a:bodyPr>
          <a:lstStyle/>
          <a:p>
            <a:pPr algn="ctr">
              <a:lnSpc>
                <a:spcPct val="105000"/>
              </a:lnSpc>
            </a:pPr>
            <a:r>
              <a:rPr sz="1200" b="0" i="0">
                <a:solidFill>
                  <a:srgbClr val="5F5A54"/>
                </a:solidFill>
              </a:rPr>
              <a:t>Rule-based alerts</a:t>
            </a:r>
          </a:p>
        </p:txBody>
      </p:sp>
      <p:sp>
        <p:nvSpPr>
          <p:cNvPr id="17" name="Step 7"/>
          <p:cNvSpPr/>
          <p:nvPr/>
        </p:nvSpPr>
        <p:spPr>
          <a:xfrm>
            <a:off x="9761481" y="3611880"/>
            <a:ext cx="1293614" cy="731520"/>
          </a:xfrm>
          <a:prstGeom prst="roundRect">
            <a:avLst>
              <a:gd name="adj" fmla="val 6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27432" rIns="27432" bIns="27432" rtlCol="0" anchor="ctr">
            <a:noAutofit/>
          </a:bodyPr>
          <a:lstStyle/>
          <a:p>
            <a:pPr algn="ctr">
              <a:lnSpc>
                <a:spcPct val="105000"/>
              </a:lnSpc>
            </a:pPr>
            <a:r>
              <a:rPr sz="1400" b="1" i="0">
                <a:solidFill>
                  <a:schemeClr val="bg1"/>
                </a:solidFill>
              </a:rPr>
              <a:t>Personalize</a:t>
            </a:r>
          </a:p>
        </p:txBody>
      </p:sp>
      <p:sp>
        <p:nvSpPr>
          <p:cNvPr id="18" name="Step 7 caption"/>
          <p:cNvSpPr txBox="1"/>
          <p:nvPr/>
        </p:nvSpPr>
        <p:spPr>
          <a:xfrm>
            <a:off x="9761481" y="4462272"/>
            <a:ext cx="1293614" cy="640080"/>
          </a:xfrm>
          <a:prstGeom prst="rect">
            <a:avLst/>
          </a:prstGeom>
          <a:noFill/>
        </p:spPr>
        <p:txBody>
          <a:bodyPr wrap="square" lIns="0" tIns="0" rIns="0" bIns="0" anchor="t">
            <a:noAutofit/>
          </a:bodyPr>
          <a:lstStyle/>
          <a:p>
            <a:pPr algn="ctr">
              <a:lnSpc>
                <a:spcPct val="105000"/>
              </a:lnSpc>
            </a:pPr>
            <a:r>
              <a:rPr sz="1200" b="0" i="0">
                <a:solidFill>
                  <a:srgbClr val="5F5A54"/>
                </a:solidFill>
              </a:rPr>
              <a:t>Feedback loop</a:t>
            </a:r>
          </a:p>
        </p:txBody>
      </p:sp>
      <p:sp>
        <p:nvSpPr>
          <p:cNvPr id="19" name="Loop caption"/>
          <p:cNvSpPr txBox="1"/>
          <p:nvPr/>
        </p:nvSpPr>
        <p:spPr>
          <a:xfrm>
            <a:off x="1451152" y="5440680"/>
            <a:ext cx="9603943" cy="548640"/>
          </a:xfrm>
          <a:prstGeom prst="rect">
            <a:avLst/>
          </a:prstGeom>
          <a:noFill/>
        </p:spPr>
        <p:txBody>
          <a:bodyPr wrap="square" lIns="0" tIns="0" rIns="0" bIns="0" anchor="t">
            <a:noAutofit/>
          </a:bodyPr>
          <a:lstStyle/>
          <a:p>
            <a:pPr algn="l">
              <a:lnSpc>
                <a:spcPct val="105000"/>
              </a:lnSpc>
            </a:pPr>
            <a:r>
              <a:rPr sz="1600" b="0" i="1">
                <a:solidFill>
                  <a:schemeClr val="accent1"/>
                </a:solidFill>
              </a:rPr>
              <a:t>Data, pattern, prediction, recommendation, feedback, then better personalization.</a:t>
            </a:r>
          </a:p>
        </p:txBody>
      </p:sp>
    </p:spTree>
  </p:cSld>
  <p:clrMapOvr>
    <a:masterClrMapping/>
  </p:clrMapOvr>
  <p:transition spd="slow">
    <p:wip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ctr"/>
          <a:lstStyle/>
          <a:p>
            <a:r>
              <a:rPr lang="en-US">
                <a:effectLst>
                  <a:outerShdw blurRad="38100" dist="38100" dir="2700000" algn="tl">
                    <a:srgbClr val="000000">
                      <a:alpha val="43137"/>
                    </a:srgbClr>
                  </a:outerShdw>
                </a:effectLst>
              </a:rPr>
              <a:t>Introduction	(2/2)</a:t>
            </a:r>
          </a:p>
        </p:txBody>
      </p:sp>
      <p:sp>
        <p:nvSpPr>
          <p:cNvPr id="3" name="Slide Number Placeholder 3"/>
          <p:cNvSpPr>
            <a:spLocks noGrp="1"/>
          </p:cNvSpPr>
          <p:nvPr>
            <p:ph type="sldNum" sz="quarter" idx="12"/>
          </p:nvPr>
        </p:nvSpPr>
        <p:spPr/>
        <p:txBody>
          <a:bodyPr/>
          <a:lstStyle/>
          <a:p>
            <a:fld id="{A0E71F06-E3F5-E242-AD46-023EB074373D}" type="slidenum">
              <a:rPr lang="x-none" smtClean="0"/>
              <a:t>4</a:t>
            </a:fld>
            <a:endParaRPr lang="x-none"/>
          </a:p>
        </p:txBody>
      </p:sp>
      <p:sp>
        <p:nvSpPr>
          <p:cNvPr id="4" name="Card 1"/>
          <p:cNvSpPr/>
          <p:nvPr/>
        </p:nvSpPr>
        <p:spPr>
          <a:xfrm>
            <a:off x="1451152" y="2057400"/>
            <a:ext cx="3048914" cy="2788920"/>
          </a:xfrm>
          <a:prstGeom prst="roundRect">
            <a:avLst>
              <a:gd name="adj" fmla="val 6000"/>
            </a:avLst>
          </a:prstGeom>
          <a:solidFill>
            <a:schemeClr val="bg1"/>
          </a:solidFill>
          <a:ln w="9525">
            <a:solidFill>
              <a:srgbClr val="D5D0C8"/>
            </a:solidFill>
          </a:ln>
          <a:effectLst/>
        </p:spPr>
        <p:style>
          <a:lnRef idx="1">
            <a:schemeClr val="accent1"/>
          </a:lnRef>
          <a:fillRef idx="3">
            <a:schemeClr val="accent1"/>
          </a:fillRef>
          <a:effectRef idx="2">
            <a:schemeClr val="accent1"/>
          </a:effectRef>
          <a:fontRef idx="minor">
            <a:schemeClr val="lt1"/>
          </a:fontRef>
        </p:style>
        <p:txBody>
          <a:bodyPr wrap="square" lIns="228600" tIns="228600" rIns="228600" bIns="228600" rtlCol="0" anchor="t">
            <a:noAutofit/>
          </a:bodyPr>
          <a:lstStyle/>
          <a:p>
            <a:pPr algn="l">
              <a:lnSpc>
                <a:spcPct val="105000"/>
              </a:lnSpc>
              <a:spcAft>
                <a:spcPts val="800"/>
              </a:spcAft>
            </a:pPr>
            <a:r>
              <a:rPr sz="2000" b="1" i="0">
                <a:solidFill>
                  <a:schemeClr val="accent1"/>
                </a:solidFill>
              </a:rPr>
              <a:t>Personal food response</a:t>
            </a:r>
          </a:p>
          <a:p>
            <a:pPr algn="l">
              <a:lnSpc>
                <a:spcPct val="105000"/>
              </a:lnSpc>
            </a:pPr>
            <a:r>
              <a:rPr sz="1600" b="0" i="0">
                <a:solidFill>
                  <a:schemeClr val="tx2"/>
                </a:solidFill>
              </a:rPr>
              <a:t>Guidance built from the user's own glucose history, not from generic tables.</a:t>
            </a:r>
          </a:p>
        </p:txBody>
      </p:sp>
      <p:sp>
        <p:nvSpPr>
          <p:cNvPr id="5" name="Card 2"/>
          <p:cNvSpPr/>
          <p:nvPr/>
        </p:nvSpPr>
        <p:spPr>
          <a:xfrm>
            <a:off x="4728667" y="2057400"/>
            <a:ext cx="3048914" cy="2788920"/>
          </a:xfrm>
          <a:prstGeom prst="roundRect">
            <a:avLst>
              <a:gd name="adj" fmla="val 6000"/>
            </a:avLst>
          </a:prstGeom>
          <a:solidFill>
            <a:schemeClr val="bg1"/>
          </a:solidFill>
          <a:ln w="9525">
            <a:solidFill>
              <a:srgbClr val="D5D0C8"/>
            </a:solidFill>
          </a:ln>
          <a:effectLst/>
        </p:spPr>
        <p:style>
          <a:lnRef idx="1">
            <a:schemeClr val="accent1"/>
          </a:lnRef>
          <a:fillRef idx="3">
            <a:schemeClr val="accent1"/>
          </a:fillRef>
          <a:effectRef idx="2">
            <a:schemeClr val="accent1"/>
          </a:effectRef>
          <a:fontRef idx="minor">
            <a:schemeClr val="lt1"/>
          </a:fontRef>
        </p:style>
        <p:txBody>
          <a:bodyPr wrap="square" lIns="228600" tIns="228600" rIns="228600" bIns="228600" rtlCol="0" anchor="t">
            <a:noAutofit/>
          </a:bodyPr>
          <a:lstStyle/>
          <a:p>
            <a:pPr algn="l">
              <a:lnSpc>
                <a:spcPct val="105000"/>
              </a:lnSpc>
              <a:spcAft>
                <a:spcPts val="800"/>
              </a:spcAft>
            </a:pPr>
            <a:r>
              <a:rPr sz="2000" b="1" i="0">
                <a:solidFill>
                  <a:schemeClr val="accent1"/>
                </a:solidFill>
              </a:rPr>
              <a:t>Explainable advice</a:t>
            </a:r>
          </a:p>
          <a:p>
            <a:pPr algn="l">
              <a:lnSpc>
                <a:spcPct val="105000"/>
              </a:lnSpc>
            </a:pPr>
            <a:r>
              <a:rPr sz="1600" b="0" i="0">
                <a:solidFill>
                  <a:schemeClr val="tx2"/>
                </a:solidFill>
              </a:rPr>
              <a:t>Every suggestion shows the past meals and readings it is based on.</a:t>
            </a:r>
          </a:p>
        </p:txBody>
      </p:sp>
      <p:sp>
        <p:nvSpPr>
          <p:cNvPr id="6" name="Card 3"/>
          <p:cNvSpPr/>
          <p:nvPr/>
        </p:nvSpPr>
        <p:spPr>
          <a:xfrm>
            <a:off x="8006181" y="2057400"/>
            <a:ext cx="3048914" cy="2788920"/>
          </a:xfrm>
          <a:prstGeom prst="roundRect">
            <a:avLst>
              <a:gd name="adj" fmla="val 6000"/>
            </a:avLst>
          </a:prstGeom>
          <a:solidFill>
            <a:schemeClr val="bg1"/>
          </a:solidFill>
          <a:ln w="9525">
            <a:solidFill>
              <a:srgbClr val="D5D0C8"/>
            </a:solidFill>
          </a:ln>
          <a:effectLst/>
        </p:spPr>
        <p:style>
          <a:lnRef idx="1">
            <a:schemeClr val="accent1"/>
          </a:lnRef>
          <a:fillRef idx="3">
            <a:schemeClr val="accent1"/>
          </a:fillRef>
          <a:effectRef idx="2">
            <a:schemeClr val="accent1"/>
          </a:effectRef>
          <a:fontRef idx="minor">
            <a:schemeClr val="lt1"/>
          </a:fontRef>
        </p:style>
        <p:txBody>
          <a:bodyPr wrap="square" lIns="228600" tIns="228600" rIns="228600" bIns="228600" rtlCol="0" anchor="t">
            <a:noAutofit/>
          </a:bodyPr>
          <a:lstStyle/>
          <a:p>
            <a:pPr algn="l">
              <a:lnSpc>
                <a:spcPct val="105000"/>
              </a:lnSpc>
              <a:spcAft>
                <a:spcPts val="800"/>
              </a:spcAft>
            </a:pPr>
            <a:r>
              <a:rPr sz="2000" b="1" i="0">
                <a:solidFill>
                  <a:schemeClr val="accent1"/>
                </a:solidFill>
              </a:rPr>
              <a:t>Safety with a Support Circle</a:t>
            </a:r>
          </a:p>
          <a:p>
            <a:pPr algn="l">
              <a:lnSpc>
                <a:spcPct val="105000"/>
              </a:lnSpc>
            </a:pPr>
            <a:r>
              <a:rPr sz="1600" b="0" i="0">
                <a:solidFill>
                  <a:schemeClr val="tx2"/>
                </a:solidFill>
              </a:rPr>
              <a:t>Rule-based alerts escalate to trusted people, plus a manual "I'm Not Okay" button.</a:t>
            </a:r>
          </a:p>
        </p:txBody>
      </p:sp>
      <p:sp>
        <p:nvSpPr>
          <p:cNvPr id="7" name="Takeaway"/>
          <p:cNvSpPr txBox="1"/>
          <p:nvPr/>
        </p:nvSpPr>
        <p:spPr>
          <a:xfrm>
            <a:off x="1451152" y="5120640"/>
            <a:ext cx="9603943" cy="822960"/>
          </a:xfrm>
          <a:prstGeom prst="rect">
            <a:avLst/>
          </a:prstGeom>
          <a:noFill/>
        </p:spPr>
        <p:txBody>
          <a:bodyPr wrap="square" lIns="0" tIns="0" rIns="0" bIns="0" anchor="t">
            <a:noAutofit/>
          </a:bodyPr>
          <a:lstStyle/>
          <a:p>
            <a:pPr algn="l">
              <a:lnSpc>
                <a:spcPct val="105000"/>
              </a:lnSpc>
            </a:pPr>
            <a:r>
              <a:rPr sz="1800" b="0" i="1">
                <a:solidFill>
                  <a:schemeClr val="tx1"/>
                </a:solidFill>
              </a:rPr>
              <a:t>InsuLink connects monitoring, food response and emergency support around one person's own data.</a:t>
            </a:r>
          </a:p>
        </p:txBody>
      </p:sp>
    </p:spTree>
  </p:cSld>
  <p:clrMapOvr>
    <a:masterClrMapping/>
  </p:clrMapOvr>
  <p:transition spd="slow">
    <p:wip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ctr"/>
          <a:lstStyle/>
          <a:p>
            <a:r>
              <a:rPr lang="en-US">
                <a:effectLst>
                  <a:outerShdw blurRad="38100" dist="38100" dir="2700000" algn="tl">
                    <a:srgbClr val="000000">
                      <a:alpha val="43137"/>
                    </a:srgbClr>
                  </a:outerShdw>
                </a:effectLst>
              </a:rPr>
              <a:t>Research Motivation</a:t>
            </a:r>
          </a:p>
        </p:txBody>
      </p:sp>
      <p:sp>
        <p:nvSpPr>
          <p:cNvPr id="3" name="Slide Number Placeholder 3"/>
          <p:cNvSpPr>
            <a:spLocks noGrp="1"/>
          </p:cNvSpPr>
          <p:nvPr>
            <p:ph type="sldNum" sz="quarter" idx="12"/>
          </p:nvPr>
        </p:nvSpPr>
        <p:spPr/>
        <p:txBody>
          <a:bodyPr/>
          <a:lstStyle/>
          <a:p>
            <a:fld id="{A0E71F06-E3F5-E242-AD46-023EB074373D}" type="slidenum">
              <a:rPr lang="x-none" smtClean="0"/>
              <a:t>5</a:t>
            </a:fld>
            <a:endParaRPr lang="x-none"/>
          </a:p>
        </p:txBody>
      </p:sp>
      <p:sp>
        <p:nvSpPr>
          <p:cNvPr id="4" name="Gap 1"/>
          <p:cNvSpPr/>
          <p:nvPr/>
        </p:nvSpPr>
        <p:spPr>
          <a:xfrm>
            <a:off x="1451152" y="2057400"/>
            <a:ext cx="3048914" cy="3154680"/>
          </a:xfrm>
          <a:prstGeom prst="roundRect">
            <a:avLst>
              <a:gd name="adj" fmla="val 6000"/>
            </a:avLst>
          </a:prstGeom>
          <a:solidFill>
            <a:schemeClr val="bg1"/>
          </a:solidFill>
          <a:ln w="9525">
            <a:solidFill>
              <a:srgbClr val="D5D0C8"/>
            </a:solidFill>
          </a:ln>
          <a:effectLst/>
        </p:spPr>
        <p:style>
          <a:lnRef idx="1">
            <a:schemeClr val="accent1"/>
          </a:lnRef>
          <a:fillRef idx="3">
            <a:schemeClr val="accent1"/>
          </a:fillRef>
          <a:effectRef idx="2">
            <a:schemeClr val="accent1"/>
          </a:effectRef>
          <a:fontRef idx="minor">
            <a:schemeClr val="lt1"/>
          </a:fontRef>
        </p:style>
        <p:txBody>
          <a:bodyPr wrap="square" lIns="228600" tIns="777240" rIns="228600" bIns="228600" rtlCol="0" anchor="t">
            <a:noAutofit/>
          </a:bodyPr>
          <a:lstStyle/>
          <a:p>
            <a:pPr algn="l">
              <a:lnSpc>
                <a:spcPct val="105000"/>
              </a:lnSpc>
              <a:spcAft>
                <a:spcPts val="800"/>
              </a:spcAft>
            </a:pPr>
            <a:r>
              <a:rPr sz="2000" b="1" i="0">
                <a:solidFill>
                  <a:schemeClr val="accent1"/>
                </a:solidFill>
              </a:rPr>
              <a:t>Numbers without meaning</a:t>
            </a:r>
          </a:p>
          <a:p>
            <a:pPr algn="l">
              <a:lnSpc>
                <a:spcPct val="105000"/>
              </a:lnSpc>
            </a:pPr>
            <a:r>
              <a:rPr sz="1600" b="0" i="0">
                <a:solidFill>
                  <a:schemeClr val="tx2"/>
                </a:solidFill>
              </a:rPr>
              <a:t>Apps show current glucose and history charts. Users must work out alone why a spike happened.</a:t>
            </a:r>
          </a:p>
        </p:txBody>
      </p:sp>
      <p:sp>
        <p:nvSpPr>
          <p:cNvPr id="5" name="Badge 1"/>
          <p:cNvSpPr/>
          <p:nvPr/>
        </p:nvSpPr>
        <p:spPr>
          <a:xfrm>
            <a:off x="1679752" y="2258568"/>
            <a:ext cx="411480" cy="411480"/>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lnSpc>
                <a:spcPct val="105000"/>
              </a:lnSpc>
            </a:pPr>
            <a:r>
              <a:rPr sz="1600" b="1" i="0">
                <a:solidFill>
                  <a:schemeClr val="bg1"/>
                </a:solidFill>
              </a:rPr>
              <a:t>1</a:t>
            </a:r>
          </a:p>
        </p:txBody>
      </p:sp>
      <p:sp>
        <p:nvSpPr>
          <p:cNvPr id="6" name="Gap 2"/>
          <p:cNvSpPr/>
          <p:nvPr/>
        </p:nvSpPr>
        <p:spPr>
          <a:xfrm>
            <a:off x="4728667" y="2057400"/>
            <a:ext cx="3048914" cy="3154680"/>
          </a:xfrm>
          <a:prstGeom prst="roundRect">
            <a:avLst>
              <a:gd name="adj" fmla="val 6000"/>
            </a:avLst>
          </a:prstGeom>
          <a:solidFill>
            <a:schemeClr val="bg1"/>
          </a:solidFill>
          <a:ln w="9525">
            <a:solidFill>
              <a:srgbClr val="D5D0C8"/>
            </a:solidFill>
          </a:ln>
          <a:effectLst/>
        </p:spPr>
        <p:style>
          <a:lnRef idx="1">
            <a:schemeClr val="accent1"/>
          </a:lnRef>
          <a:fillRef idx="3">
            <a:schemeClr val="accent1"/>
          </a:fillRef>
          <a:effectRef idx="2">
            <a:schemeClr val="accent1"/>
          </a:effectRef>
          <a:fontRef idx="minor">
            <a:schemeClr val="lt1"/>
          </a:fontRef>
        </p:style>
        <p:txBody>
          <a:bodyPr wrap="square" lIns="228600" tIns="777240" rIns="228600" bIns="228600" rtlCol="0" anchor="t">
            <a:noAutofit/>
          </a:bodyPr>
          <a:lstStyle/>
          <a:p>
            <a:pPr algn="l">
              <a:lnSpc>
                <a:spcPct val="105000"/>
              </a:lnSpc>
              <a:spcAft>
                <a:spcPts val="800"/>
              </a:spcAft>
            </a:pPr>
            <a:r>
              <a:rPr sz="2000" b="1" i="0">
                <a:solidFill>
                  <a:schemeClr val="accent1"/>
                </a:solidFill>
              </a:rPr>
              <a:t>Generic food advice</a:t>
            </a:r>
          </a:p>
          <a:p>
            <a:pPr algn="l">
              <a:lnSpc>
                <a:spcPct val="105000"/>
              </a:lnSpc>
            </a:pPr>
            <a:r>
              <a:rPr sz="1600" b="0" i="0">
                <a:solidFill>
                  <a:schemeClr val="tx2"/>
                </a:solidFill>
              </a:rPr>
              <a:t>Glycemic index tables treat everyone the same, yet each body responds differently to the same meal.</a:t>
            </a:r>
          </a:p>
        </p:txBody>
      </p:sp>
      <p:sp>
        <p:nvSpPr>
          <p:cNvPr id="7" name="Badge 2"/>
          <p:cNvSpPr/>
          <p:nvPr/>
        </p:nvSpPr>
        <p:spPr>
          <a:xfrm>
            <a:off x="4957267" y="2258568"/>
            <a:ext cx="411480" cy="411480"/>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lnSpc>
                <a:spcPct val="105000"/>
              </a:lnSpc>
            </a:pPr>
            <a:r>
              <a:rPr sz="1600" b="1" i="0">
                <a:solidFill>
                  <a:schemeClr val="bg1"/>
                </a:solidFill>
              </a:rPr>
              <a:t>2</a:t>
            </a:r>
          </a:p>
        </p:txBody>
      </p:sp>
      <p:sp>
        <p:nvSpPr>
          <p:cNvPr id="8" name="Gap 3"/>
          <p:cNvSpPr/>
          <p:nvPr/>
        </p:nvSpPr>
        <p:spPr>
          <a:xfrm>
            <a:off x="8006181" y="2057400"/>
            <a:ext cx="3048914" cy="3154680"/>
          </a:xfrm>
          <a:prstGeom prst="roundRect">
            <a:avLst>
              <a:gd name="adj" fmla="val 6000"/>
            </a:avLst>
          </a:prstGeom>
          <a:solidFill>
            <a:schemeClr val="bg1"/>
          </a:solidFill>
          <a:ln w="9525">
            <a:solidFill>
              <a:srgbClr val="D5D0C8"/>
            </a:solidFill>
          </a:ln>
          <a:effectLst/>
        </p:spPr>
        <p:style>
          <a:lnRef idx="1">
            <a:schemeClr val="accent1"/>
          </a:lnRef>
          <a:fillRef idx="3">
            <a:schemeClr val="accent1"/>
          </a:fillRef>
          <a:effectRef idx="2">
            <a:schemeClr val="accent1"/>
          </a:effectRef>
          <a:fontRef idx="minor">
            <a:schemeClr val="lt1"/>
          </a:fontRef>
        </p:style>
        <p:txBody>
          <a:bodyPr wrap="square" lIns="228600" tIns="777240" rIns="228600" bIns="228600" rtlCol="0" anchor="t">
            <a:noAutofit/>
          </a:bodyPr>
          <a:lstStyle/>
          <a:p>
            <a:pPr algn="l">
              <a:lnSpc>
                <a:spcPct val="105000"/>
              </a:lnSpc>
              <a:spcAft>
                <a:spcPts val="800"/>
              </a:spcAft>
            </a:pPr>
            <a:r>
              <a:rPr sz="2000" b="1" i="0">
                <a:solidFill>
                  <a:schemeClr val="accent1"/>
                </a:solidFill>
              </a:rPr>
              <a:t>Safety depends on the user</a:t>
            </a:r>
          </a:p>
          <a:p>
            <a:pPr algn="l">
              <a:lnSpc>
                <a:spcPct val="105000"/>
              </a:lnSpc>
            </a:pPr>
            <a:r>
              <a:rPr sz="1600" b="0" i="0">
                <a:solidFill>
                  <a:schemeClr val="tx2"/>
                </a:solidFill>
              </a:rPr>
              <a:t>When glucose turns dangerous, the alert reaches the person who may be least able to respond.</a:t>
            </a:r>
          </a:p>
        </p:txBody>
      </p:sp>
      <p:sp>
        <p:nvSpPr>
          <p:cNvPr id="9" name="Badge 3"/>
          <p:cNvSpPr/>
          <p:nvPr/>
        </p:nvSpPr>
        <p:spPr>
          <a:xfrm>
            <a:off x="8234781" y="2258568"/>
            <a:ext cx="411480" cy="411480"/>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lnSpc>
                <a:spcPct val="105000"/>
              </a:lnSpc>
            </a:pPr>
            <a:r>
              <a:rPr sz="1600" b="1" i="0">
                <a:solidFill>
                  <a:schemeClr val="bg1"/>
                </a:solidFill>
              </a:rPr>
              <a:t>3</a:t>
            </a:r>
          </a:p>
        </p:txBody>
      </p:sp>
      <p:sp>
        <p:nvSpPr>
          <p:cNvPr id="10" name="Prevalence placeholder"/>
          <p:cNvSpPr txBox="1"/>
          <p:nvPr/>
        </p:nvSpPr>
        <p:spPr>
          <a:xfrm>
            <a:off x="1451152" y="5440680"/>
            <a:ext cx="9603943" cy="548640"/>
          </a:xfrm>
          <a:prstGeom prst="rect">
            <a:avLst/>
          </a:prstGeom>
          <a:noFill/>
        </p:spPr>
        <p:txBody>
          <a:bodyPr wrap="square" lIns="0" tIns="0" rIns="0" bIns="0" anchor="t">
            <a:noAutofit/>
          </a:bodyPr>
          <a:lstStyle/>
          <a:p>
            <a:pPr algn="l">
              <a:lnSpc>
                <a:spcPct val="105000"/>
              </a:lnSpc>
            </a:pPr>
            <a:r>
              <a:rPr lang="en-US" sz="1600" b="0" i="1" dirty="0">
                <a:solidFill>
                  <a:schemeClr val="accent1"/>
                </a:solidFill>
              </a:rPr>
              <a:t>In the HUPA-UCM dataset, only 8 of 25 people with type 1 diabetes reach the 70% time-in-range target, even with a CGM [4].</a:t>
            </a:r>
          </a:p>
        </p:txBody>
      </p:sp>
    </p:spTree>
  </p:cSld>
  <p:clrMapOvr>
    <a:masterClrMapping/>
  </p:clrMapOvr>
  <p:transition spd="slow">
    <p:wip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ctr"/>
          <a:lstStyle/>
          <a:p>
            <a:r>
              <a:rPr lang="en-US">
                <a:effectLst>
                  <a:outerShdw blurRad="38100" dist="38100" dir="2700000" algn="tl">
                    <a:srgbClr val="000000">
                      <a:alpha val="43137"/>
                    </a:srgbClr>
                  </a:outerShdw>
                </a:effectLst>
              </a:rPr>
              <a:t>Research Problems &amp; Objectives</a:t>
            </a:r>
          </a:p>
        </p:txBody>
      </p:sp>
      <p:sp>
        <p:nvSpPr>
          <p:cNvPr id="3" name="Slide Number Placeholder 3"/>
          <p:cNvSpPr>
            <a:spLocks noGrp="1"/>
          </p:cNvSpPr>
          <p:nvPr>
            <p:ph type="sldNum" sz="quarter" idx="12"/>
          </p:nvPr>
        </p:nvSpPr>
        <p:spPr/>
        <p:txBody>
          <a:bodyPr/>
          <a:lstStyle/>
          <a:p>
            <a:fld id="{A0E71F06-E3F5-E242-AD46-023EB074373D}" type="slidenum">
              <a:rPr lang="x-none" smtClean="0"/>
              <a:t>6</a:t>
            </a:fld>
            <a:endParaRPr lang="x-none"/>
          </a:p>
        </p:txBody>
      </p:sp>
      <p:sp>
        <p:nvSpPr>
          <p:cNvPr id="4" name="Problems"/>
          <p:cNvSpPr/>
          <p:nvPr/>
        </p:nvSpPr>
        <p:spPr>
          <a:xfrm>
            <a:off x="1451152" y="2057400"/>
            <a:ext cx="4687671" cy="3840480"/>
          </a:xfrm>
          <a:prstGeom prst="roundRect">
            <a:avLst>
              <a:gd name="adj" fmla="val 6000"/>
            </a:avLst>
          </a:prstGeom>
          <a:solidFill>
            <a:schemeClr val="bg1"/>
          </a:solidFill>
          <a:ln w="9525">
            <a:solidFill>
              <a:srgbClr val="D5D0C8"/>
            </a:solidFill>
          </a:ln>
          <a:effectLst/>
        </p:spPr>
        <p:style>
          <a:lnRef idx="1">
            <a:schemeClr val="accent1"/>
          </a:lnRef>
          <a:fillRef idx="3">
            <a:schemeClr val="accent1"/>
          </a:fillRef>
          <a:effectRef idx="2">
            <a:schemeClr val="accent1"/>
          </a:effectRef>
          <a:fontRef idx="minor">
            <a:schemeClr val="lt1"/>
          </a:fontRef>
        </p:style>
        <p:txBody>
          <a:bodyPr wrap="square" lIns="228600" tIns="228600" rIns="228600" bIns="228600" rtlCol="0" anchor="t">
            <a:noAutofit/>
          </a:bodyPr>
          <a:lstStyle/>
          <a:p>
            <a:pPr algn="l">
              <a:lnSpc>
                <a:spcPct val="105000"/>
              </a:lnSpc>
              <a:spcAft>
                <a:spcPts val="800"/>
              </a:spcAft>
            </a:pPr>
            <a:r>
              <a:rPr sz="2000" b="1" i="0">
                <a:solidFill>
                  <a:schemeClr val="accent1"/>
                </a:solidFill>
              </a:rPr>
              <a:t>Research problems</a:t>
            </a:r>
          </a:p>
          <a:p>
            <a:pPr marL="246888" indent="-246888" algn="l">
              <a:lnSpc>
                <a:spcPct val="105000"/>
              </a:lnSpc>
              <a:spcAft>
                <a:spcPts val="800"/>
              </a:spcAft>
              <a:buClr>
                <a:schemeClr val="accent1"/>
              </a:buClr>
              <a:buFont typeface="Arial"/>
              <a:buChar char="•"/>
            </a:pPr>
            <a:r>
              <a:rPr sz="1600" b="0" i="0">
                <a:solidFill>
                  <a:schemeClr val="tx2"/>
                </a:solidFill>
              </a:rPr>
              <a:t>Glucose data is shown without an explanation of its causes</a:t>
            </a:r>
          </a:p>
          <a:p>
            <a:pPr marL="246888" indent="-246888" algn="l">
              <a:lnSpc>
                <a:spcPct val="105000"/>
              </a:lnSpc>
              <a:spcAft>
                <a:spcPts val="800"/>
              </a:spcAft>
              <a:buClr>
                <a:schemeClr val="accent1"/>
              </a:buClr>
              <a:buFont typeface="Arial"/>
              <a:buChar char="•"/>
            </a:pPr>
            <a:r>
              <a:rPr sz="1600" b="0" i="0">
                <a:solidFill>
                  <a:schemeClr val="tx2"/>
                </a:solidFill>
              </a:rPr>
              <a:t>Food guidance such as glycemic index tables is generic, while individual responses differ</a:t>
            </a:r>
          </a:p>
          <a:p>
            <a:pPr marL="246888" indent="-246888" algn="l">
              <a:lnSpc>
                <a:spcPct val="105000"/>
              </a:lnSpc>
              <a:buClr>
                <a:schemeClr val="accent1"/>
              </a:buClr>
              <a:buFont typeface="Arial"/>
              <a:buChar char="•"/>
            </a:pPr>
            <a:r>
              <a:rPr sz="1600" b="0" i="0">
                <a:solidFill>
                  <a:schemeClr val="tx2"/>
                </a:solidFill>
              </a:rPr>
              <a:t>When glucose becomes dangerous, the alert depends on the user being able to respond</a:t>
            </a:r>
          </a:p>
        </p:txBody>
      </p:sp>
      <p:sp>
        <p:nvSpPr>
          <p:cNvPr id="5" name="Objectives"/>
          <p:cNvSpPr/>
          <p:nvPr/>
        </p:nvSpPr>
        <p:spPr>
          <a:xfrm>
            <a:off x="6367424" y="2057400"/>
            <a:ext cx="4687671" cy="3840480"/>
          </a:xfrm>
          <a:prstGeom prst="roundRect">
            <a:avLst>
              <a:gd name="adj" fmla="val 6000"/>
            </a:avLst>
          </a:prstGeom>
          <a:solidFill>
            <a:schemeClr val="bg1"/>
          </a:solidFill>
          <a:ln w="9525">
            <a:solidFill>
              <a:srgbClr val="D5D0C8"/>
            </a:solidFill>
          </a:ln>
          <a:effectLst/>
        </p:spPr>
        <p:style>
          <a:lnRef idx="1">
            <a:schemeClr val="accent1"/>
          </a:lnRef>
          <a:fillRef idx="3">
            <a:schemeClr val="accent1"/>
          </a:fillRef>
          <a:effectRef idx="2">
            <a:schemeClr val="accent1"/>
          </a:effectRef>
          <a:fontRef idx="minor">
            <a:schemeClr val="lt1"/>
          </a:fontRef>
        </p:style>
        <p:txBody>
          <a:bodyPr wrap="square" lIns="228600" tIns="228600" rIns="228600" bIns="228600" rtlCol="0" anchor="t">
            <a:noAutofit/>
          </a:bodyPr>
          <a:lstStyle/>
          <a:p>
            <a:pPr algn="l">
              <a:lnSpc>
                <a:spcPct val="105000"/>
              </a:lnSpc>
              <a:spcAft>
                <a:spcPts val="800"/>
              </a:spcAft>
            </a:pPr>
            <a:r>
              <a:rPr sz="2000" b="1" i="0">
                <a:solidFill>
                  <a:schemeClr val="accent1"/>
                </a:solidFill>
              </a:rPr>
              <a:t>Objectives</a:t>
            </a:r>
          </a:p>
          <a:p>
            <a:pPr marL="246888" indent="-246888" algn="l">
              <a:lnSpc>
                <a:spcPct val="105000"/>
              </a:lnSpc>
              <a:spcAft>
                <a:spcPts val="800"/>
              </a:spcAft>
              <a:buClr>
                <a:schemeClr val="accent1"/>
              </a:buClr>
              <a:buFont typeface="Arial"/>
              <a:buChar char="•"/>
            </a:pPr>
            <a:r>
              <a:rPr sz="1600" b="0" i="0">
                <a:solidFill>
                  <a:schemeClr val="tx2"/>
                </a:solidFill>
              </a:rPr>
              <a:t>Build a Flutter app covering the Tier 1 scope</a:t>
            </a:r>
          </a:p>
          <a:p>
            <a:pPr marL="246888" indent="-246888" algn="l">
              <a:lnSpc>
                <a:spcPct val="105000"/>
              </a:lnSpc>
              <a:spcAft>
                <a:spcPts val="800"/>
              </a:spcAft>
              <a:buClr>
                <a:schemeClr val="accent1"/>
              </a:buClr>
              <a:buFont typeface="Arial"/>
              <a:buChar char="•"/>
            </a:pPr>
            <a:r>
              <a:rPr sz="1600" b="0" i="0">
                <a:solidFill>
                  <a:schemeClr val="tx2"/>
                </a:solidFill>
              </a:rPr>
              <a:t>Make every recommendation cite the user's own past meals</a:t>
            </a:r>
          </a:p>
          <a:p>
            <a:pPr marL="246888" indent="-246888" algn="l">
              <a:lnSpc>
                <a:spcPct val="105000"/>
              </a:lnSpc>
              <a:spcAft>
                <a:spcPts val="800"/>
              </a:spcAft>
              <a:buClr>
                <a:schemeClr val="accent1"/>
              </a:buClr>
              <a:buFont typeface="Arial"/>
              <a:buChar char="•"/>
            </a:pPr>
            <a:r>
              <a:rPr sz="1600" b="0" i="0">
                <a:solidFill>
                  <a:schemeClr val="tx2"/>
                </a:solidFill>
              </a:rPr>
              <a:t>Implement a tested safety and escalation engine, separate from machine learning</a:t>
            </a:r>
          </a:p>
          <a:p>
            <a:pPr marL="246888" indent="-246888" algn="l">
              <a:lnSpc>
                <a:spcPct val="105000"/>
              </a:lnSpc>
              <a:buClr>
                <a:schemeClr val="accent1"/>
              </a:buClr>
              <a:buFont typeface="Arial"/>
              <a:buChar char="•"/>
            </a:pPr>
            <a:r>
              <a:rPr sz="1600" b="0" i="0">
                <a:solidFill>
                  <a:schemeClr val="tx2"/>
                </a:solidFill>
              </a:rPr>
              <a:t>Evaluate prediction quality on held-out real patient data (HUPA-UCM)</a:t>
            </a:r>
          </a:p>
        </p:txBody>
      </p:sp>
    </p:spTree>
  </p:cSld>
  <p:clrMapOvr>
    <a:masterClrMapping/>
  </p:clrMapOvr>
  <p:transition spd="slow">
    <p:wip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ctr"/>
          <a:lstStyle/>
          <a:p>
            <a:r>
              <a:rPr lang="en-US">
                <a:effectLst>
                  <a:outerShdw blurRad="38100" dist="38100" dir="2700000" algn="tl">
                    <a:srgbClr val="000000">
                      <a:alpha val="43137"/>
                    </a:srgbClr>
                  </a:outerShdw>
                </a:effectLst>
              </a:rPr>
              <a:t>Related Work	(1/2)</a:t>
            </a:r>
          </a:p>
        </p:txBody>
      </p:sp>
      <p:sp>
        <p:nvSpPr>
          <p:cNvPr id="3" name="Slide Number Placeholder 3"/>
          <p:cNvSpPr>
            <a:spLocks noGrp="1"/>
          </p:cNvSpPr>
          <p:nvPr>
            <p:ph type="sldNum" sz="quarter" idx="12"/>
          </p:nvPr>
        </p:nvSpPr>
        <p:spPr/>
        <p:txBody>
          <a:bodyPr/>
          <a:lstStyle/>
          <a:p>
            <a:fld id="{A0E71F06-E3F5-E242-AD46-023EB074373D}" type="slidenum">
              <a:rPr lang="x-none" smtClean="0"/>
              <a:t>7</a:t>
            </a:fld>
            <a:endParaRPr lang="x-none"/>
          </a:p>
        </p:txBody>
      </p:sp>
      <p:sp>
        <p:nvSpPr>
          <p:cNvPr id="4" name="Time in range"/>
          <p:cNvSpPr/>
          <p:nvPr/>
        </p:nvSpPr>
        <p:spPr>
          <a:xfrm>
            <a:off x="1451152" y="2057400"/>
            <a:ext cx="4687671" cy="2514600"/>
          </a:xfrm>
          <a:prstGeom prst="roundRect">
            <a:avLst>
              <a:gd name="adj" fmla="val 6000"/>
            </a:avLst>
          </a:prstGeom>
          <a:solidFill>
            <a:schemeClr val="bg1"/>
          </a:solidFill>
          <a:ln w="9525">
            <a:solidFill>
              <a:srgbClr val="D5D0C8"/>
            </a:solidFill>
          </a:ln>
          <a:effectLst/>
        </p:spPr>
        <p:style>
          <a:lnRef idx="1">
            <a:schemeClr val="accent1"/>
          </a:lnRef>
          <a:fillRef idx="3">
            <a:schemeClr val="accent1"/>
          </a:fillRef>
          <a:effectRef idx="2">
            <a:schemeClr val="accent1"/>
          </a:effectRef>
          <a:fontRef idx="minor">
            <a:schemeClr val="lt1"/>
          </a:fontRef>
        </p:style>
        <p:txBody>
          <a:bodyPr wrap="square" lIns="228600" tIns="228600" rIns="228600" bIns="228600" rtlCol="0" anchor="t">
            <a:noAutofit/>
          </a:bodyPr>
          <a:lstStyle/>
          <a:p>
            <a:pPr algn="l">
              <a:lnSpc>
                <a:spcPct val="105000"/>
              </a:lnSpc>
              <a:spcAft>
                <a:spcPts val="800"/>
              </a:spcAft>
            </a:pPr>
            <a:r>
              <a:rPr sz="2000" b="1" i="0">
                <a:solidFill>
                  <a:schemeClr val="accent1"/>
                </a:solidFill>
              </a:rPr>
              <a:t>Time in range [1]</a:t>
            </a:r>
          </a:p>
          <a:p>
            <a:pPr algn="l">
              <a:lnSpc>
                <a:spcPct val="105000"/>
              </a:lnSpc>
            </a:pPr>
            <a:r>
              <a:rPr sz="1600" b="0" i="0">
                <a:solidFill>
                  <a:schemeClr val="tx2"/>
                </a:solidFill>
              </a:rPr>
              <a:t>The international consensus defines time in range as 70 to 180 mg/dL and sets targets for time below and above range. Our dashboard reports the same three fractions.</a:t>
            </a:r>
          </a:p>
        </p:txBody>
      </p:sp>
      <p:sp>
        <p:nvSpPr>
          <p:cNvPr id="5" name="Clarke grid"/>
          <p:cNvSpPr/>
          <p:nvPr/>
        </p:nvSpPr>
        <p:spPr>
          <a:xfrm>
            <a:off x="6367424" y="2057400"/>
            <a:ext cx="4687671" cy="2514600"/>
          </a:xfrm>
          <a:prstGeom prst="roundRect">
            <a:avLst>
              <a:gd name="adj" fmla="val 6000"/>
            </a:avLst>
          </a:prstGeom>
          <a:solidFill>
            <a:schemeClr val="bg1"/>
          </a:solidFill>
          <a:ln w="9525">
            <a:solidFill>
              <a:srgbClr val="D5D0C8"/>
            </a:solidFill>
          </a:ln>
          <a:effectLst/>
        </p:spPr>
        <p:style>
          <a:lnRef idx="1">
            <a:schemeClr val="accent1"/>
          </a:lnRef>
          <a:fillRef idx="3">
            <a:schemeClr val="accent1"/>
          </a:fillRef>
          <a:effectRef idx="2">
            <a:schemeClr val="accent1"/>
          </a:effectRef>
          <a:fontRef idx="minor">
            <a:schemeClr val="lt1"/>
          </a:fontRef>
        </p:style>
        <p:txBody>
          <a:bodyPr wrap="square" lIns="228600" tIns="228600" rIns="228600" bIns="228600" rtlCol="0" anchor="t">
            <a:noAutofit/>
          </a:bodyPr>
          <a:lstStyle/>
          <a:p>
            <a:pPr algn="l">
              <a:lnSpc>
                <a:spcPct val="105000"/>
              </a:lnSpc>
              <a:spcAft>
                <a:spcPts val="800"/>
              </a:spcAft>
            </a:pPr>
            <a:r>
              <a:rPr sz="2000" b="1" i="0">
                <a:solidFill>
                  <a:schemeClr val="accent1"/>
                </a:solidFill>
              </a:rPr>
              <a:t>Clarke Error Grid [2]</a:t>
            </a:r>
          </a:p>
          <a:p>
            <a:pPr algn="l">
              <a:lnSpc>
                <a:spcPct val="105000"/>
              </a:lnSpc>
            </a:pPr>
            <a:r>
              <a:rPr sz="1600" b="0" i="0">
                <a:solidFill>
                  <a:schemeClr val="tx2"/>
                </a:solidFill>
              </a:rPr>
              <a:t>A standard way to judge the clinical accuracy of glucose predictions. The full project will report it alongside RMSE once forecasting is added.</a:t>
            </a:r>
          </a:p>
        </p:txBody>
      </p:sp>
      <p:sp>
        <p:nvSpPr>
          <p:cNvPr id="6" name="References"/>
          <p:cNvSpPr txBox="1"/>
          <p:nvPr/>
        </p:nvSpPr>
        <p:spPr>
          <a:xfrm>
            <a:off x="1451152" y="4846320"/>
            <a:ext cx="9603943" cy="1371600"/>
          </a:xfrm>
          <a:prstGeom prst="rect">
            <a:avLst/>
          </a:prstGeom>
          <a:noFill/>
        </p:spPr>
        <p:txBody>
          <a:bodyPr wrap="square" lIns="0" tIns="0" rIns="0" bIns="0" anchor="t">
            <a:noAutofit/>
          </a:bodyPr>
          <a:lstStyle/>
          <a:p>
            <a:pPr algn="l">
              <a:lnSpc>
                <a:spcPct val="105000"/>
              </a:lnSpc>
              <a:spcAft>
                <a:spcPts val="600"/>
              </a:spcAft>
            </a:pPr>
            <a:r>
              <a:rPr sz="1100" b="0" i="0">
                <a:solidFill>
                  <a:srgbClr val="5F5A54"/>
                </a:solidFill>
              </a:rPr>
              <a:t>[1] T. Battelino et al., "Clinical targets for continuous glucose monitoring data interpretation: recommendations from the international consensus on time in range," Diabetes Care, vol. 42, no. 8, pp. 1593-1603, 2019.</a:t>
            </a:r>
          </a:p>
          <a:p>
            <a:pPr algn="l">
              <a:lnSpc>
                <a:spcPct val="105000"/>
              </a:lnSpc>
            </a:pPr>
            <a:r>
              <a:rPr sz="1100" b="0" i="0">
                <a:solidFill>
                  <a:srgbClr val="5F5A54"/>
                </a:solidFill>
              </a:rPr>
              <a:t>[2] W. L. Clarke, D. Cox, L. A. Gonder-Frederick, W. Carter, and S. L. Pohl, "Evaluating clinical accuracy of systems for self-monitoring of blood glucose," Diabetes Care, vol. 10, no. 5, pp. 622-628, 1987.</a:t>
            </a:r>
          </a:p>
        </p:txBody>
      </p:sp>
    </p:spTree>
  </p:cSld>
  <p:clrMapOvr>
    <a:masterClrMapping/>
  </p:clrMapOvr>
  <p:transition spd="slow">
    <p:wip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ctr"/>
          <a:lstStyle/>
          <a:p>
            <a:r>
              <a:rPr lang="en-US">
                <a:effectLst>
                  <a:outerShdw blurRad="38100" dist="38100" dir="2700000" algn="tl">
                    <a:srgbClr val="000000">
                      <a:alpha val="43137"/>
                    </a:srgbClr>
                  </a:outerShdw>
                </a:effectLst>
              </a:rPr>
              <a:t>Related Work	(2/2)</a:t>
            </a:r>
          </a:p>
        </p:txBody>
      </p:sp>
      <p:sp>
        <p:nvSpPr>
          <p:cNvPr id="3" name="Slide Number Placeholder 3"/>
          <p:cNvSpPr>
            <a:spLocks noGrp="1"/>
          </p:cNvSpPr>
          <p:nvPr>
            <p:ph type="sldNum" sz="quarter" idx="12"/>
          </p:nvPr>
        </p:nvSpPr>
        <p:spPr/>
        <p:txBody>
          <a:bodyPr/>
          <a:lstStyle/>
          <a:p>
            <a:fld id="{A0E71F06-E3F5-E242-AD46-023EB074373D}" type="slidenum">
              <a:rPr lang="x-none" smtClean="0"/>
              <a:t>8</a:t>
            </a:fld>
            <a:endParaRPr lang="x-none"/>
          </a:p>
        </p:txBody>
      </p:sp>
      <p:graphicFrame>
        <p:nvGraphicFramePr>
          <p:cNvPr id="4" name="Related tools"/>
          <p:cNvGraphicFramePr>
            <a:graphicFrameLocks noGrp="1"/>
          </p:cNvGraphicFramePr>
          <p:nvPr/>
        </p:nvGraphicFramePr>
        <p:xfrm>
          <a:off x="1451152" y="2057400"/>
          <a:ext cx="9603943" cy="2834640"/>
        </p:xfrm>
        <a:graphic>
          <a:graphicData uri="http://schemas.openxmlformats.org/drawingml/2006/table">
            <a:tbl>
              <a:tblPr firstRow="1" bandRow="1">
                <a:tableStyleId>{5C22544A-7EE6-4342-B048-85BDC9FD1C3A}</a:tableStyleId>
              </a:tblPr>
              <a:tblGrid>
                <a:gridCol w="2468880">
                  <a:extLst>
                    <a:ext uri="{9D8B030D-6E8A-4147-A177-3AD203B41FA5}">
                      <a16:colId xmlns:a16="http://schemas.microsoft.com/office/drawing/2014/main" val="20000"/>
                    </a:ext>
                  </a:extLst>
                </a:gridCol>
                <a:gridCol w="2834640">
                  <a:extLst>
                    <a:ext uri="{9D8B030D-6E8A-4147-A177-3AD203B41FA5}">
                      <a16:colId xmlns:a16="http://schemas.microsoft.com/office/drawing/2014/main" val="20001"/>
                    </a:ext>
                  </a:extLst>
                </a:gridCol>
                <a:gridCol w="4300423">
                  <a:extLst>
                    <a:ext uri="{9D8B030D-6E8A-4147-A177-3AD203B41FA5}">
                      <a16:colId xmlns:a16="http://schemas.microsoft.com/office/drawing/2014/main" val="20002"/>
                    </a:ext>
                  </a:extLst>
                </a:gridCol>
              </a:tblGrid>
              <a:tr h="502920">
                <a:tc>
                  <a:txBody>
                    <a:bodyPr/>
                    <a:lstStyle/>
                    <a:p>
                      <a:r>
                        <a:rPr sz="1600" b="1">
                          <a:solidFill>
                            <a:schemeClr val="bg1"/>
                          </a:solidFill>
                        </a:rPr>
                        <a:t>Tool type</a:t>
                      </a:r>
                    </a:p>
                  </a:txBody>
                  <a:tcPr marL="109728" marR="109728" anchor="ctr">
                    <a:solidFill>
                      <a:schemeClr val="accent1"/>
                    </a:solidFill>
                  </a:tcPr>
                </a:tc>
                <a:tc>
                  <a:txBody>
                    <a:bodyPr/>
                    <a:lstStyle/>
                    <a:p>
                      <a:r>
                        <a:rPr sz="1600" b="1">
                          <a:solidFill>
                            <a:schemeClr val="bg1"/>
                          </a:solidFill>
                        </a:rPr>
                        <a:t>Examples</a:t>
                      </a:r>
                    </a:p>
                  </a:txBody>
                  <a:tcPr marL="109728" marR="109728" anchor="ctr">
                    <a:solidFill>
                      <a:schemeClr val="accent1"/>
                    </a:solidFill>
                  </a:tcPr>
                </a:tc>
                <a:tc>
                  <a:txBody>
                    <a:bodyPr/>
                    <a:lstStyle/>
                    <a:p>
                      <a:r>
                        <a:rPr sz="1600" b="1">
                          <a:solidFill>
                            <a:schemeClr val="bg1"/>
                          </a:solidFill>
                        </a:rPr>
                        <a:t>Main focus</a:t>
                      </a:r>
                    </a:p>
                  </a:txBody>
                  <a:tcPr marL="109728" marR="109728" anchor="ctr">
                    <a:solidFill>
                      <a:schemeClr val="accent1"/>
                    </a:solidFill>
                  </a:tcPr>
                </a:tc>
                <a:extLst>
                  <a:ext uri="{0D108BD9-81ED-4DB2-BD59-A6C34878D82A}">
                    <a16:rowId xmlns:a16="http://schemas.microsoft.com/office/drawing/2014/main" val="10000"/>
                  </a:ext>
                </a:extLst>
              </a:tr>
              <a:tr h="777240">
                <a:tc>
                  <a:txBody>
                    <a:bodyPr/>
                    <a:lstStyle/>
                    <a:p>
                      <a:r>
                        <a:rPr sz="1600" b="0">
                          <a:solidFill>
                            <a:schemeClr val="tx2"/>
                          </a:solidFill>
                        </a:rPr>
                        <a:t>CGM follower apps</a:t>
                      </a:r>
                    </a:p>
                  </a:txBody>
                  <a:tcPr marL="109728" marR="109728" anchor="ctr">
                    <a:solidFill>
                      <a:schemeClr val="bg1"/>
                    </a:solidFill>
                  </a:tcPr>
                </a:tc>
                <a:tc>
                  <a:txBody>
                    <a:bodyPr/>
                    <a:lstStyle/>
                    <a:p>
                      <a:r>
                        <a:rPr sz="1600" b="0">
                          <a:solidFill>
                            <a:schemeClr val="tx2"/>
                          </a:solidFill>
                        </a:rPr>
                        <a:t>Libre LinkUp, Dexcom Follow</a:t>
                      </a:r>
                    </a:p>
                  </a:txBody>
                  <a:tcPr marL="109728" marR="109728" anchor="ctr">
                    <a:solidFill>
                      <a:schemeClr val="bg1"/>
                    </a:solidFill>
                  </a:tcPr>
                </a:tc>
                <a:tc>
                  <a:txBody>
                    <a:bodyPr/>
                    <a:lstStyle/>
                    <a:p>
                      <a:r>
                        <a:rPr sz="1600" b="0">
                          <a:solidFill>
                            <a:schemeClr val="tx2"/>
                          </a:solidFill>
                        </a:rPr>
                        <a:t>Share live glucose and alerts with followers</a:t>
                      </a:r>
                    </a:p>
                  </a:txBody>
                  <a:tcPr marL="109728" marR="109728" anchor="ctr">
                    <a:solidFill>
                      <a:schemeClr val="bg1"/>
                    </a:solidFill>
                  </a:tcPr>
                </a:tc>
                <a:extLst>
                  <a:ext uri="{0D108BD9-81ED-4DB2-BD59-A6C34878D82A}">
                    <a16:rowId xmlns:a16="http://schemas.microsoft.com/office/drawing/2014/main" val="10001"/>
                  </a:ext>
                </a:extLst>
              </a:tr>
              <a:tr h="777240">
                <a:tc>
                  <a:txBody>
                    <a:bodyPr/>
                    <a:lstStyle/>
                    <a:p>
                      <a:r>
                        <a:rPr sz="1600" b="0">
                          <a:solidFill>
                            <a:schemeClr val="tx2"/>
                          </a:solidFill>
                        </a:rPr>
                        <a:t>Logging and data platforms</a:t>
                      </a:r>
                    </a:p>
                  </a:txBody>
                  <a:tcPr marL="109728" marR="109728" anchor="ctr">
                    <a:solidFill>
                      <a:srgbClr val="F3F0EB"/>
                    </a:solidFill>
                  </a:tcPr>
                </a:tc>
                <a:tc>
                  <a:txBody>
                    <a:bodyPr/>
                    <a:lstStyle/>
                    <a:p>
                      <a:r>
                        <a:rPr sz="1600" b="0">
                          <a:solidFill>
                            <a:schemeClr val="tx2"/>
                          </a:solidFill>
                        </a:rPr>
                        <a:t>mySugr, Glooko</a:t>
                      </a:r>
                    </a:p>
                  </a:txBody>
                  <a:tcPr marL="109728" marR="109728" anchor="ctr">
                    <a:solidFill>
                      <a:srgbClr val="F3F0EB"/>
                    </a:solidFill>
                  </a:tcPr>
                </a:tc>
                <a:tc>
                  <a:txBody>
                    <a:bodyPr/>
                    <a:lstStyle/>
                    <a:p>
                      <a:r>
                        <a:rPr sz="1600" b="0">
                          <a:solidFill>
                            <a:schemeClr val="tx2"/>
                          </a:solidFill>
                        </a:rPr>
                        <a:t>Log meals and insulin, produce reports</a:t>
                      </a:r>
                    </a:p>
                  </a:txBody>
                  <a:tcPr marL="109728" marR="109728" anchor="ctr">
                    <a:solidFill>
                      <a:srgbClr val="F3F0EB"/>
                    </a:solidFill>
                  </a:tcPr>
                </a:tc>
                <a:extLst>
                  <a:ext uri="{0D108BD9-81ED-4DB2-BD59-A6C34878D82A}">
                    <a16:rowId xmlns:a16="http://schemas.microsoft.com/office/drawing/2014/main" val="10002"/>
                  </a:ext>
                </a:extLst>
              </a:tr>
              <a:tr h="777240">
                <a:tc>
                  <a:txBody>
                    <a:bodyPr/>
                    <a:lstStyle/>
                    <a:p>
                      <a:r>
                        <a:rPr sz="1600" b="1">
                          <a:solidFill>
                            <a:schemeClr val="tx2"/>
                          </a:solidFill>
                        </a:rPr>
                        <a:t>InsuLink (this project)</a:t>
                      </a:r>
                    </a:p>
                  </a:txBody>
                  <a:tcPr marL="109728" marR="109728" anchor="ctr">
                    <a:solidFill>
                      <a:srgbClr val="F6E3E8"/>
                    </a:solidFill>
                  </a:tcPr>
                </a:tc>
                <a:tc>
                  <a:txBody>
                    <a:bodyPr/>
                    <a:lstStyle/>
                    <a:p>
                      <a:r>
                        <a:rPr sz="1600" b="1">
                          <a:solidFill>
                            <a:schemeClr val="tx2"/>
                          </a:solidFill>
                        </a:rPr>
                        <a:t>Prototype</a:t>
                      </a:r>
                    </a:p>
                  </a:txBody>
                  <a:tcPr marL="109728" marR="109728" anchor="ctr">
                    <a:solidFill>
                      <a:srgbClr val="F6E3E8"/>
                    </a:solidFill>
                  </a:tcPr>
                </a:tc>
                <a:tc>
                  <a:txBody>
                    <a:bodyPr/>
                    <a:lstStyle/>
                    <a:p>
                      <a:r>
                        <a:rPr sz="1600" b="1">
                          <a:solidFill>
                            <a:schemeClr val="tx2"/>
                          </a:solidFill>
                        </a:rPr>
                        <a:t>Personal, explainable food response with emergency escalation</a:t>
                      </a:r>
                    </a:p>
                  </a:txBody>
                  <a:tcPr marL="109728" marR="109728" anchor="ctr">
                    <a:solidFill>
                      <a:srgbClr val="F6E3E8"/>
                    </a:solidFill>
                  </a:tcPr>
                </a:tc>
                <a:extLst>
                  <a:ext uri="{0D108BD9-81ED-4DB2-BD59-A6C34878D82A}">
                    <a16:rowId xmlns:a16="http://schemas.microsoft.com/office/drawing/2014/main" val="10003"/>
                  </a:ext>
                </a:extLst>
              </a:tr>
            </a:tbl>
          </a:graphicData>
        </a:graphic>
      </p:graphicFrame>
      <p:sp>
        <p:nvSpPr>
          <p:cNvPr id="5" name="Research question"/>
          <p:cNvSpPr txBox="1"/>
          <p:nvPr/>
        </p:nvSpPr>
        <p:spPr>
          <a:xfrm>
            <a:off x="1451152" y="5074920"/>
            <a:ext cx="9603943" cy="822960"/>
          </a:xfrm>
          <a:prstGeom prst="rect">
            <a:avLst/>
          </a:prstGeom>
          <a:noFill/>
        </p:spPr>
        <p:txBody>
          <a:bodyPr wrap="square" lIns="0" tIns="0" rIns="0" bIns="0" anchor="t">
            <a:noAutofit/>
          </a:bodyPr>
          <a:lstStyle/>
          <a:p>
            <a:pPr algn="l">
              <a:lnSpc>
                <a:spcPct val="105000"/>
              </a:lnSpc>
            </a:pPr>
            <a:r>
              <a:rPr sz="1800" b="0" i="1">
                <a:solidFill>
                  <a:schemeClr val="accent1"/>
                </a:solidFill>
              </a:rPr>
              <a:t>Our question: can an app explain one person's own food response, and escalate when they cannot act?</a:t>
            </a:r>
          </a:p>
        </p:txBody>
      </p:sp>
    </p:spTree>
  </p:cSld>
  <p:clrMapOvr>
    <a:masterClrMapping/>
  </p:clrMapOvr>
  <p:transition spd="slow">
    <p:wip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ctr"/>
          <a:lstStyle/>
          <a:p>
            <a:r>
              <a:rPr lang="en-US">
                <a:effectLst>
                  <a:outerShdw blurRad="38100" dist="38100" dir="2700000" algn="tl">
                    <a:srgbClr val="000000">
                      <a:alpha val="43137"/>
                    </a:srgbClr>
                  </a:outerShdw>
                </a:effectLst>
              </a:rPr>
              <a:t>System Architecture</a:t>
            </a:r>
          </a:p>
        </p:txBody>
      </p:sp>
      <p:sp>
        <p:nvSpPr>
          <p:cNvPr id="3" name="Slide Number Placeholder 3"/>
          <p:cNvSpPr>
            <a:spLocks noGrp="1"/>
          </p:cNvSpPr>
          <p:nvPr>
            <p:ph type="sldNum" sz="quarter" idx="12"/>
          </p:nvPr>
        </p:nvSpPr>
        <p:spPr/>
        <p:txBody>
          <a:bodyPr/>
          <a:lstStyle/>
          <a:p>
            <a:fld id="{A0E71F06-E3F5-E242-AD46-023EB074373D}" type="slidenum">
              <a:rPr lang="x-none" smtClean="0"/>
              <a:t>9</a:t>
            </a:fld>
            <a:endParaRPr lang="x-none"/>
          </a:p>
        </p:txBody>
      </p:sp>
      <p:sp>
        <p:nvSpPr>
          <p:cNvPr id="4" name="Mobile app (Flutter)"/>
          <p:cNvSpPr/>
          <p:nvPr/>
        </p:nvSpPr>
        <p:spPr>
          <a:xfrm>
            <a:off x="1451152" y="2057400"/>
            <a:ext cx="2926080" cy="4114800"/>
          </a:xfrm>
          <a:prstGeom prst="roundRect">
            <a:avLst>
              <a:gd name="adj" fmla="val 6000"/>
            </a:avLst>
          </a:prstGeom>
          <a:solidFill>
            <a:schemeClr val="bg1"/>
          </a:solidFill>
          <a:ln w="9525">
            <a:solidFill>
              <a:srgbClr val="D5D0C8"/>
            </a:solidFill>
          </a:ln>
          <a:effectLst/>
        </p:spPr>
        <p:style>
          <a:lnRef idx="1">
            <a:schemeClr val="accent1"/>
          </a:lnRef>
          <a:fillRef idx="3">
            <a:schemeClr val="accent1"/>
          </a:fillRef>
          <a:effectRef idx="2">
            <a:schemeClr val="accent1"/>
          </a:effectRef>
          <a:fontRef idx="minor">
            <a:schemeClr val="lt1"/>
          </a:fontRef>
        </p:style>
        <p:txBody>
          <a:bodyPr wrap="square" lIns="182880" tIns="182880" rIns="182880" bIns="182880" rtlCol="0" anchor="t">
            <a:noAutofit/>
          </a:bodyPr>
          <a:lstStyle/>
          <a:p>
            <a:pPr algn="l">
              <a:lnSpc>
                <a:spcPct val="105000"/>
              </a:lnSpc>
            </a:pPr>
            <a:r>
              <a:rPr sz="1800" b="1" i="0">
                <a:solidFill>
                  <a:schemeClr val="accent1"/>
                </a:solidFill>
              </a:rPr>
              <a:t>Mobile app (Flutter)</a:t>
            </a:r>
          </a:p>
        </p:txBody>
      </p:sp>
      <p:sp>
        <p:nvSpPr>
          <p:cNvPr id="5" name="Component"/>
          <p:cNvSpPr/>
          <p:nvPr/>
        </p:nvSpPr>
        <p:spPr>
          <a:xfrm>
            <a:off x="1634032" y="2743200"/>
            <a:ext cx="2560320" cy="914400"/>
          </a:xfrm>
          <a:prstGeom prst="roundRect">
            <a:avLst>
              <a:gd name="adj" fmla="val 6000"/>
            </a:avLst>
          </a:prstGeom>
          <a:solidFill>
            <a:srgbClr val="F3F0EB"/>
          </a:solidFill>
          <a:ln>
            <a:noFill/>
          </a:ln>
          <a:effectLst/>
        </p:spPr>
        <p:style>
          <a:lnRef idx="1">
            <a:schemeClr val="accent1"/>
          </a:lnRef>
          <a:fillRef idx="3">
            <a:schemeClr val="accent1"/>
          </a:fillRef>
          <a:effectRef idx="2">
            <a:schemeClr val="accent1"/>
          </a:effectRef>
          <a:fontRef idx="minor">
            <a:schemeClr val="lt1"/>
          </a:fontRef>
        </p:style>
        <p:txBody>
          <a:bodyPr wrap="square" lIns="109728" rIns="109728" rtlCol="0" anchor="ctr">
            <a:noAutofit/>
          </a:bodyPr>
          <a:lstStyle/>
          <a:p>
            <a:pPr algn="l">
              <a:lnSpc>
                <a:spcPct val="105000"/>
              </a:lnSpc>
            </a:pPr>
            <a:r>
              <a:rPr sz="1400" b="0" i="0">
                <a:solidFill>
                  <a:schemeClr val="tx2"/>
                </a:solidFill>
              </a:rPr>
              <a:t>Dashboard, logging and calculator screens</a:t>
            </a:r>
          </a:p>
        </p:txBody>
      </p:sp>
      <p:sp>
        <p:nvSpPr>
          <p:cNvPr id="6" name="Component"/>
          <p:cNvSpPr/>
          <p:nvPr/>
        </p:nvSpPr>
        <p:spPr>
          <a:xfrm>
            <a:off x="1634032" y="3794760"/>
            <a:ext cx="2560320" cy="914400"/>
          </a:xfrm>
          <a:prstGeom prst="roundRect">
            <a:avLst>
              <a:gd name="adj" fmla="val 6000"/>
            </a:avLst>
          </a:prstGeom>
          <a:solidFill>
            <a:srgbClr val="F3F0EB"/>
          </a:solidFill>
          <a:ln>
            <a:noFill/>
          </a:ln>
          <a:effectLst/>
        </p:spPr>
        <p:style>
          <a:lnRef idx="1">
            <a:schemeClr val="accent1"/>
          </a:lnRef>
          <a:fillRef idx="3">
            <a:schemeClr val="accent1"/>
          </a:fillRef>
          <a:effectRef idx="2">
            <a:schemeClr val="accent1"/>
          </a:effectRef>
          <a:fontRef idx="minor">
            <a:schemeClr val="lt1"/>
          </a:fontRef>
        </p:style>
        <p:txBody>
          <a:bodyPr wrap="square" lIns="109728" rIns="109728" rtlCol="0" anchor="ctr">
            <a:noAutofit/>
          </a:bodyPr>
          <a:lstStyle/>
          <a:p>
            <a:pPr algn="l">
              <a:lnSpc>
                <a:spcPct val="105000"/>
              </a:lnSpc>
            </a:pPr>
            <a:r>
              <a:rPr sz="1400" b="0" i="0">
                <a:solidFill>
                  <a:schemeClr val="tx2"/>
                </a:solidFill>
              </a:rPr>
              <a:t>Safety engine (pure Dart, fixed rules, no AI)</a:t>
            </a:r>
          </a:p>
        </p:txBody>
      </p:sp>
      <p:sp>
        <p:nvSpPr>
          <p:cNvPr id="7" name="Component"/>
          <p:cNvSpPr/>
          <p:nvPr/>
        </p:nvSpPr>
        <p:spPr>
          <a:xfrm>
            <a:off x="1634032" y="4846320"/>
            <a:ext cx="2560320" cy="914400"/>
          </a:xfrm>
          <a:prstGeom prst="roundRect">
            <a:avLst>
              <a:gd name="adj" fmla="val 6000"/>
            </a:avLst>
          </a:prstGeom>
          <a:solidFill>
            <a:srgbClr val="F3F0EB"/>
          </a:solidFill>
          <a:ln>
            <a:noFill/>
          </a:ln>
          <a:effectLst/>
        </p:spPr>
        <p:style>
          <a:lnRef idx="1">
            <a:schemeClr val="accent1"/>
          </a:lnRef>
          <a:fillRef idx="3">
            <a:schemeClr val="accent1"/>
          </a:fillRef>
          <a:effectRef idx="2">
            <a:schemeClr val="accent1"/>
          </a:effectRef>
          <a:fontRef idx="minor">
            <a:schemeClr val="lt1"/>
          </a:fontRef>
        </p:style>
        <p:txBody>
          <a:bodyPr wrap="square" lIns="109728" rIns="109728" rtlCol="0" anchor="ctr">
            <a:noAutofit/>
          </a:bodyPr>
          <a:lstStyle/>
          <a:p>
            <a:pPr algn="l">
              <a:lnSpc>
                <a:spcPct val="105000"/>
              </a:lnSpc>
            </a:pPr>
            <a:r>
              <a:rPr sz="1400" b="0" i="0">
                <a:solidFill>
                  <a:schemeClr val="tx2"/>
                </a:solidFill>
              </a:rPr>
              <a:t>On-device ML (TensorFlow Lite)</a:t>
            </a:r>
          </a:p>
        </p:txBody>
      </p:sp>
      <p:sp>
        <p:nvSpPr>
          <p:cNvPr id="8" name="Firebase"/>
          <p:cNvSpPr/>
          <p:nvPr/>
        </p:nvSpPr>
        <p:spPr>
          <a:xfrm>
            <a:off x="4925872" y="2057400"/>
            <a:ext cx="2194560" cy="4114800"/>
          </a:xfrm>
          <a:prstGeom prst="roundRect">
            <a:avLst>
              <a:gd name="adj" fmla="val 6000"/>
            </a:avLst>
          </a:prstGeom>
          <a:solidFill>
            <a:schemeClr val="bg1"/>
          </a:solidFill>
          <a:ln w="9525">
            <a:solidFill>
              <a:srgbClr val="D5D0C8"/>
            </a:solidFill>
          </a:ln>
          <a:effectLst/>
        </p:spPr>
        <p:style>
          <a:lnRef idx="1">
            <a:schemeClr val="accent1"/>
          </a:lnRef>
          <a:fillRef idx="3">
            <a:schemeClr val="accent1"/>
          </a:fillRef>
          <a:effectRef idx="2">
            <a:schemeClr val="accent1"/>
          </a:effectRef>
          <a:fontRef idx="minor">
            <a:schemeClr val="lt1"/>
          </a:fontRef>
        </p:style>
        <p:txBody>
          <a:bodyPr wrap="square" lIns="182880" tIns="182880" rIns="182880" bIns="182880" rtlCol="0" anchor="t">
            <a:noAutofit/>
          </a:bodyPr>
          <a:lstStyle/>
          <a:p>
            <a:pPr algn="l">
              <a:lnSpc>
                <a:spcPct val="105000"/>
              </a:lnSpc>
            </a:pPr>
            <a:r>
              <a:rPr sz="1800" b="1" i="0">
                <a:solidFill>
                  <a:schemeClr val="accent1"/>
                </a:solidFill>
              </a:rPr>
              <a:t>Firebase</a:t>
            </a:r>
          </a:p>
        </p:txBody>
      </p:sp>
      <p:sp>
        <p:nvSpPr>
          <p:cNvPr id="9" name="Component"/>
          <p:cNvSpPr/>
          <p:nvPr/>
        </p:nvSpPr>
        <p:spPr>
          <a:xfrm>
            <a:off x="5108752" y="2743200"/>
            <a:ext cx="1828800" cy="1234440"/>
          </a:xfrm>
          <a:prstGeom prst="roundRect">
            <a:avLst>
              <a:gd name="adj" fmla="val 6000"/>
            </a:avLst>
          </a:prstGeom>
          <a:solidFill>
            <a:srgbClr val="F3F0EB"/>
          </a:solidFill>
          <a:ln>
            <a:noFill/>
          </a:ln>
          <a:effectLst/>
        </p:spPr>
        <p:style>
          <a:lnRef idx="1">
            <a:schemeClr val="accent1"/>
          </a:lnRef>
          <a:fillRef idx="3">
            <a:schemeClr val="accent1"/>
          </a:fillRef>
          <a:effectRef idx="2">
            <a:schemeClr val="accent1"/>
          </a:effectRef>
          <a:fontRef idx="minor">
            <a:schemeClr val="lt1"/>
          </a:fontRef>
        </p:style>
        <p:txBody>
          <a:bodyPr wrap="square" lIns="109728" rIns="109728" rtlCol="0" anchor="ctr">
            <a:noAutofit/>
          </a:bodyPr>
          <a:lstStyle/>
          <a:p>
            <a:pPr algn="l">
              <a:lnSpc>
                <a:spcPct val="105000"/>
              </a:lnSpc>
            </a:pPr>
            <a:r>
              <a:rPr sz="1400" b="0" i="0">
                <a:solidFill>
                  <a:schemeClr val="tx2"/>
                </a:solidFill>
              </a:rPr>
              <a:t>Auth: email and phone sign-in</a:t>
            </a:r>
          </a:p>
        </p:txBody>
      </p:sp>
      <p:sp>
        <p:nvSpPr>
          <p:cNvPr id="10" name="Component"/>
          <p:cNvSpPr/>
          <p:nvPr/>
        </p:nvSpPr>
        <p:spPr>
          <a:xfrm>
            <a:off x="5108752" y="4114800"/>
            <a:ext cx="1828800" cy="1234440"/>
          </a:xfrm>
          <a:prstGeom prst="roundRect">
            <a:avLst>
              <a:gd name="adj" fmla="val 6000"/>
            </a:avLst>
          </a:prstGeom>
          <a:solidFill>
            <a:srgbClr val="F3F0EB"/>
          </a:solidFill>
          <a:ln>
            <a:noFill/>
          </a:ln>
          <a:effectLst/>
        </p:spPr>
        <p:style>
          <a:lnRef idx="1">
            <a:schemeClr val="accent1"/>
          </a:lnRef>
          <a:fillRef idx="3">
            <a:schemeClr val="accent1"/>
          </a:fillRef>
          <a:effectRef idx="2">
            <a:schemeClr val="accent1"/>
          </a:effectRef>
          <a:fontRef idx="minor">
            <a:schemeClr val="lt1"/>
          </a:fontRef>
        </p:style>
        <p:txBody>
          <a:bodyPr wrap="square" lIns="109728" rIns="109728" rtlCol="0" anchor="ctr">
            <a:noAutofit/>
          </a:bodyPr>
          <a:lstStyle/>
          <a:p>
            <a:pPr algn="l">
              <a:lnSpc>
                <a:spcPct val="105000"/>
              </a:lnSpc>
            </a:pPr>
            <a:r>
              <a:rPr sz="1400" b="0" i="0">
                <a:solidFill>
                  <a:schemeClr val="tx2"/>
                </a:solidFill>
              </a:rPr>
              <a:t>Firestore: readings, meals, alerts, Support Circle</a:t>
            </a:r>
          </a:p>
        </p:txBody>
      </p:sp>
      <p:sp>
        <p:nvSpPr>
          <p:cNvPr id="11" name="Escalation (server side)"/>
          <p:cNvSpPr/>
          <p:nvPr/>
        </p:nvSpPr>
        <p:spPr>
          <a:xfrm>
            <a:off x="7669072" y="2057400"/>
            <a:ext cx="3383280" cy="4114800"/>
          </a:xfrm>
          <a:prstGeom prst="roundRect">
            <a:avLst>
              <a:gd name="adj" fmla="val 6000"/>
            </a:avLst>
          </a:prstGeom>
          <a:solidFill>
            <a:schemeClr val="bg1"/>
          </a:solidFill>
          <a:ln w="9525">
            <a:solidFill>
              <a:srgbClr val="D5D0C8"/>
            </a:solidFill>
          </a:ln>
          <a:effectLst/>
        </p:spPr>
        <p:style>
          <a:lnRef idx="1">
            <a:schemeClr val="accent1"/>
          </a:lnRef>
          <a:fillRef idx="3">
            <a:schemeClr val="accent1"/>
          </a:fillRef>
          <a:effectRef idx="2">
            <a:schemeClr val="accent1"/>
          </a:effectRef>
          <a:fontRef idx="minor">
            <a:schemeClr val="lt1"/>
          </a:fontRef>
        </p:style>
        <p:txBody>
          <a:bodyPr wrap="square" lIns="182880" tIns="182880" rIns="182880" bIns="182880" rtlCol="0" anchor="t">
            <a:noAutofit/>
          </a:bodyPr>
          <a:lstStyle/>
          <a:p>
            <a:pPr algn="l">
              <a:lnSpc>
                <a:spcPct val="105000"/>
              </a:lnSpc>
            </a:pPr>
            <a:r>
              <a:rPr sz="1800" b="1" i="0">
                <a:solidFill>
                  <a:schemeClr val="accent1"/>
                </a:solidFill>
              </a:rPr>
              <a:t>Escalation (server side)</a:t>
            </a:r>
          </a:p>
        </p:txBody>
      </p:sp>
      <p:sp>
        <p:nvSpPr>
          <p:cNvPr id="12" name="Component"/>
          <p:cNvSpPr/>
          <p:nvPr/>
        </p:nvSpPr>
        <p:spPr>
          <a:xfrm>
            <a:off x="7851952" y="2743200"/>
            <a:ext cx="3017520" cy="914400"/>
          </a:xfrm>
          <a:prstGeom prst="roundRect">
            <a:avLst>
              <a:gd name="adj" fmla="val 6000"/>
            </a:avLst>
          </a:prstGeom>
          <a:solidFill>
            <a:srgbClr val="F3F0EB"/>
          </a:solidFill>
          <a:ln>
            <a:noFill/>
          </a:ln>
          <a:effectLst/>
        </p:spPr>
        <p:style>
          <a:lnRef idx="1">
            <a:schemeClr val="accent1"/>
          </a:lnRef>
          <a:fillRef idx="3">
            <a:schemeClr val="accent1"/>
          </a:fillRef>
          <a:effectRef idx="2">
            <a:schemeClr val="accent1"/>
          </a:effectRef>
          <a:fontRef idx="minor">
            <a:schemeClr val="lt1"/>
          </a:fontRef>
        </p:style>
        <p:txBody>
          <a:bodyPr wrap="square" lIns="109728" rIns="109728" rtlCol="0" anchor="ctr">
            <a:noAutofit/>
          </a:bodyPr>
          <a:lstStyle/>
          <a:p>
            <a:pPr algn="l">
              <a:lnSpc>
                <a:spcPct val="105000"/>
              </a:lnSpc>
            </a:pPr>
            <a:r>
              <a:rPr sz="1400" b="0" i="0">
                <a:solidFill>
                  <a:schemeClr val="tx2"/>
                </a:solidFill>
              </a:rPr>
              <a:t>Cloud Functions: acknowledgement timers</a:t>
            </a:r>
          </a:p>
        </p:txBody>
      </p:sp>
      <p:sp>
        <p:nvSpPr>
          <p:cNvPr id="13" name="Component"/>
          <p:cNvSpPr/>
          <p:nvPr/>
        </p:nvSpPr>
        <p:spPr>
          <a:xfrm>
            <a:off x="7851952" y="3794760"/>
            <a:ext cx="3017520" cy="914400"/>
          </a:xfrm>
          <a:prstGeom prst="roundRect">
            <a:avLst>
              <a:gd name="adj" fmla="val 6000"/>
            </a:avLst>
          </a:prstGeom>
          <a:solidFill>
            <a:srgbClr val="F3F0EB"/>
          </a:solidFill>
          <a:ln>
            <a:noFill/>
          </a:ln>
          <a:effectLst/>
        </p:spPr>
        <p:style>
          <a:lnRef idx="1">
            <a:schemeClr val="accent1"/>
          </a:lnRef>
          <a:fillRef idx="3">
            <a:schemeClr val="accent1"/>
          </a:fillRef>
          <a:effectRef idx="2">
            <a:schemeClr val="accent1"/>
          </a:effectRef>
          <a:fontRef idx="minor">
            <a:schemeClr val="lt1"/>
          </a:fontRef>
        </p:style>
        <p:txBody>
          <a:bodyPr wrap="square" lIns="109728" rIns="109728" rtlCol="0" anchor="ctr">
            <a:noAutofit/>
          </a:bodyPr>
          <a:lstStyle/>
          <a:p>
            <a:pPr algn="l">
              <a:lnSpc>
                <a:spcPct val="105000"/>
              </a:lnSpc>
            </a:pPr>
            <a:r>
              <a:rPr sz="1400" b="0" i="0">
                <a:solidFill>
                  <a:schemeClr val="tx2"/>
                </a:solidFill>
              </a:rPr>
              <a:t>Push (FCM), then SMS fallback</a:t>
            </a:r>
          </a:p>
        </p:txBody>
      </p:sp>
      <p:sp>
        <p:nvSpPr>
          <p:cNvPr id="14" name="Component"/>
          <p:cNvSpPr/>
          <p:nvPr/>
        </p:nvSpPr>
        <p:spPr>
          <a:xfrm>
            <a:off x="7851952" y="4846320"/>
            <a:ext cx="3017520" cy="914400"/>
          </a:xfrm>
          <a:prstGeom prst="roundRect">
            <a:avLst>
              <a:gd name="adj" fmla="val 6000"/>
            </a:avLst>
          </a:prstGeom>
          <a:solidFill>
            <a:srgbClr val="F3F0EB"/>
          </a:solidFill>
          <a:ln>
            <a:noFill/>
          </a:ln>
          <a:effectLst/>
        </p:spPr>
        <p:style>
          <a:lnRef idx="1">
            <a:schemeClr val="accent1"/>
          </a:lnRef>
          <a:fillRef idx="3">
            <a:schemeClr val="accent1"/>
          </a:fillRef>
          <a:effectRef idx="2">
            <a:schemeClr val="accent1"/>
          </a:effectRef>
          <a:fontRef idx="minor">
            <a:schemeClr val="lt1"/>
          </a:fontRef>
        </p:style>
        <p:txBody>
          <a:bodyPr wrap="square" lIns="109728" rIns="109728" rtlCol="0" anchor="ctr">
            <a:noAutofit/>
          </a:bodyPr>
          <a:lstStyle/>
          <a:p>
            <a:pPr algn="l">
              <a:lnSpc>
                <a:spcPct val="105000"/>
              </a:lnSpc>
            </a:pPr>
            <a:r>
              <a:rPr sz="1400" b="0" i="0">
                <a:solidFill>
                  <a:schemeClr val="tx2"/>
                </a:solidFill>
              </a:rPr>
              <a:t>Support Circle contacts, in priority order</a:t>
            </a:r>
          </a:p>
        </p:txBody>
      </p:sp>
      <p:sp>
        <p:nvSpPr>
          <p:cNvPr id="15" name="Arrow"/>
          <p:cNvSpPr/>
          <p:nvPr/>
        </p:nvSpPr>
        <p:spPr>
          <a:xfrm>
            <a:off x="4422952" y="3977639"/>
            <a:ext cx="457200" cy="274320"/>
          </a:xfrm>
          <a:prstGeom prst="leftRightArrow">
            <a:avLst/>
          </a:prstGeom>
          <a:solidFill>
            <a:srgbClr val="B9B2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Arrow"/>
          <p:cNvSpPr/>
          <p:nvPr/>
        </p:nvSpPr>
        <p:spPr>
          <a:xfrm>
            <a:off x="7166152" y="3977639"/>
            <a:ext cx="457200" cy="274320"/>
          </a:xfrm>
          <a:prstGeom prst="leftRightArrow">
            <a:avLst/>
          </a:prstGeom>
          <a:solidFill>
            <a:srgbClr val="B9B2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transition spd="slow">
    <p:wip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ctr"/>
          <a:lstStyle/>
          <a:p>
            <a:r>
              <a:rPr lang="en-US">
                <a:effectLst>
                  <a:outerShdw blurRad="38100" dist="38100" dir="2700000" algn="tl">
                    <a:srgbClr val="000000">
                      <a:alpha val="43137"/>
                    </a:srgbClr>
                  </a:outerShdw>
                </a:effectLst>
              </a:rPr>
              <a:t>Software Architecture</a:t>
            </a:r>
          </a:p>
        </p:txBody>
      </p:sp>
      <p:sp>
        <p:nvSpPr>
          <p:cNvPr id="3" name="Slide Number Placeholder 3"/>
          <p:cNvSpPr>
            <a:spLocks noGrp="1"/>
          </p:cNvSpPr>
          <p:nvPr>
            <p:ph type="sldNum" sz="quarter" idx="12"/>
          </p:nvPr>
        </p:nvSpPr>
        <p:spPr/>
        <p:txBody>
          <a:bodyPr/>
          <a:lstStyle/>
          <a:p>
            <a:fld id="{A0E71F06-E3F5-E242-AD46-023EB074373D}" type="slidenum">
              <a:rPr lang="x-none" smtClean="0"/>
              <a:t>10</a:t>
            </a:fld>
            <a:endParaRPr lang="x-none"/>
          </a:p>
        </p:txBody>
      </p:sp>
      <p:graphicFrame>
        <p:nvGraphicFramePr>
          <p:cNvPr id="4" name="Modules"/>
          <p:cNvGraphicFramePr>
            <a:graphicFrameLocks noGrp="1"/>
          </p:cNvGraphicFramePr>
          <p:nvPr/>
        </p:nvGraphicFramePr>
        <p:xfrm>
          <a:off x="1451152" y="2057400"/>
          <a:ext cx="6035040" cy="3291840"/>
        </p:xfrm>
        <a:graphic>
          <a:graphicData uri="http://schemas.openxmlformats.org/drawingml/2006/table">
            <a:tbl>
              <a:tblPr firstRow="1" bandRow="1">
                <a:tableStyleId>{5C22544A-7EE6-4342-B048-85BDC9FD1C3A}</a:tableStyleId>
              </a:tblPr>
              <a:tblGrid>
                <a:gridCol w="1645920">
                  <a:extLst>
                    <a:ext uri="{9D8B030D-6E8A-4147-A177-3AD203B41FA5}">
                      <a16:colId xmlns:a16="http://schemas.microsoft.com/office/drawing/2014/main" val="20000"/>
                    </a:ext>
                  </a:extLst>
                </a:gridCol>
                <a:gridCol w="3200400">
                  <a:extLst>
                    <a:ext uri="{9D8B030D-6E8A-4147-A177-3AD203B41FA5}">
                      <a16:colId xmlns:a16="http://schemas.microsoft.com/office/drawing/2014/main" val="20001"/>
                    </a:ext>
                  </a:extLst>
                </a:gridCol>
                <a:gridCol w="1188720">
                  <a:extLst>
                    <a:ext uri="{9D8B030D-6E8A-4147-A177-3AD203B41FA5}">
                      <a16:colId xmlns:a16="http://schemas.microsoft.com/office/drawing/2014/main" val="20002"/>
                    </a:ext>
                  </a:extLst>
                </a:gridCol>
              </a:tblGrid>
              <a:tr h="457200">
                <a:tc>
                  <a:txBody>
                    <a:bodyPr/>
                    <a:lstStyle/>
                    <a:p>
                      <a:r>
                        <a:rPr sz="1400" b="1">
                          <a:solidFill>
                            <a:schemeClr val="bg1"/>
                          </a:solidFill>
                        </a:rPr>
                        <a:t>Module</a:t>
                      </a:r>
                    </a:p>
                  </a:txBody>
                  <a:tcPr marL="109728" marR="109728" anchor="ctr">
                    <a:solidFill>
                      <a:schemeClr val="accent1"/>
                    </a:solidFill>
                  </a:tcPr>
                </a:tc>
                <a:tc>
                  <a:txBody>
                    <a:bodyPr/>
                    <a:lstStyle/>
                    <a:p>
                      <a:r>
                        <a:rPr sz="1400" b="1">
                          <a:solidFill>
                            <a:schemeClr val="bg1"/>
                          </a:solidFill>
                        </a:rPr>
                        <a:t>Responsibility</a:t>
                      </a:r>
                    </a:p>
                  </a:txBody>
                  <a:tcPr marL="109728" marR="109728" anchor="ctr">
                    <a:solidFill>
                      <a:schemeClr val="accent1"/>
                    </a:solidFill>
                  </a:tcPr>
                </a:tc>
                <a:tc>
                  <a:txBody>
                    <a:bodyPr/>
                    <a:lstStyle/>
                    <a:p>
                      <a:r>
                        <a:rPr sz="1400" b="1">
                          <a:solidFill>
                            <a:schemeClr val="bg1"/>
                          </a:solidFill>
                        </a:rPr>
                        <a:t>Status</a:t>
                      </a:r>
                    </a:p>
                  </a:txBody>
                  <a:tcPr marL="109728" marR="109728" anchor="ctr">
                    <a:solidFill>
                      <a:schemeClr val="accent1"/>
                    </a:solidFill>
                  </a:tcPr>
                </a:tc>
                <a:extLst>
                  <a:ext uri="{0D108BD9-81ED-4DB2-BD59-A6C34878D82A}">
                    <a16:rowId xmlns:a16="http://schemas.microsoft.com/office/drawing/2014/main" val="10000"/>
                  </a:ext>
                </a:extLst>
              </a:tr>
              <a:tr h="566928">
                <a:tc>
                  <a:txBody>
                    <a:bodyPr/>
                    <a:lstStyle/>
                    <a:p>
                      <a:r>
                        <a:rPr sz="1300" b="1">
                          <a:solidFill>
                            <a:schemeClr val="tx2"/>
                          </a:solidFill>
                          <a:latin typeface="Courier New"/>
                        </a:rPr>
                        <a:t>simulator</a:t>
                      </a:r>
                    </a:p>
                  </a:txBody>
                  <a:tcPr marL="109728" marR="109728" anchor="ctr">
                    <a:solidFill>
                      <a:schemeClr val="bg1"/>
                    </a:solidFill>
                  </a:tcPr>
                </a:tc>
                <a:tc>
                  <a:txBody>
                    <a:bodyPr/>
                    <a:lstStyle/>
                    <a:p>
                      <a:r>
                        <a:rPr sz="1400" b="0">
                          <a:solidFill>
                            <a:schemeClr val="tx2"/>
                          </a:solidFill>
                        </a:rPr>
                        <a:t>Synthetic CGM with a hidden personal profile</a:t>
                      </a:r>
                    </a:p>
                  </a:txBody>
                  <a:tcPr marL="109728" marR="109728" anchor="ctr">
                    <a:solidFill>
                      <a:schemeClr val="bg1"/>
                    </a:solidFill>
                  </a:tcPr>
                </a:tc>
                <a:tc>
                  <a:txBody>
                    <a:bodyPr/>
                    <a:lstStyle/>
                    <a:p>
                      <a:r>
                        <a:rPr sz="1400" b="0">
                          <a:solidFill>
                            <a:schemeClr val="tx2"/>
                          </a:solidFill>
                        </a:rPr>
                        <a:t>Tested</a:t>
                      </a:r>
                    </a:p>
                  </a:txBody>
                  <a:tcPr marL="109728" marR="109728" anchor="ctr">
                    <a:solidFill>
                      <a:schemeClr val="bg1"/>
                    </a:solidFill>
                  </a:tcPr>
                </a:tc>
                <a:extLst>
                  <a:ext uri="{0D108BD9-81ED-4DB2-BD59-A6C34878D82A}">
                    <a16:rowId xmlns:a16="http://schemas.microsoft.com/office/drawing/2014/main" val="10001"/>
                  </a:ext>
                </a:extLst>
              </a:tr>
              <a:tr h="566928">
                <a:tc>
                  <a:txBody>
                    <a:bodyPr/>
                    <a:lstStyle/>
                    <a:p>
                      <a:r>
                        <a:rPr sz="1300" b="1">
                          <a:solidFill>
                            <a:schemeClr val="tx2"/>
                          </a:solidFill>
                          <a:latin typeface="Courier New"/>
                        </a:rPr>
                        <a:t>safety</a:t>
                      </a:r>
                    </a:p>
                  </a:txBody>
                  <a:tcPr marL="109728" marR="109728" anchor="ctr">
                    <a:solidFill>
                      <a:srgbClr val="F3F0EB"/>
                    </a:solidFill>
                  </a:tcPr>
                </a:tc>
                <a:tc>
                  <a:txBody>
                    <a:bodyPr/>
                    <a:lstStyle/>
                    <a:p>
                      <a:r>
                        <a:rPr sz="1400" b="0">
                          <a:solidFill>
                            <a:schemeClr val="tx2"/>
                          </a:solidFill>
                        </a:rPr>
                        <a:t>Fixed-threshold alerts, time in range</a:t>
                      </a:r>
                    </a:p>
                  </a:txBody>
                  <a:tcPr marL="109728" marR="109728" anchor="ctr">
                    <a:solidFill>
                      <a:srgbClr val="F3F0EB"/>
                    </a:solidFill>
                  </a:tcPr>
                </a:tc>
                <a:tc>
                  <a:txBody>
                    <a:bodyPr/>
                    <a:lstStyle/>
                    <a:p>
                      <a:r>
                        <a:rPr sz="1400" b="0">
                          <a:solidFill>
                            <a:schemeClr val="tx2"/>
                          </a:solidFill>
                        </a:rPr>
                        <a:t>Tested</a:t>
                      </a:r>
                    </a:p>
                  </a:txBody>
                  <a:tcPr marL="109728" marR="109728" anchor="ctr">
                    <a:solidFill>
                      <a:srgbClr val="F3F0EB"/>
                    </a:solidFill>
                  </a:tcPr>
                </a:tc>
                <a:extLst>
                  <a:ext uri="{0D108BD9-81ED-4DB2-BD59-A6C34878D82A}">
                    <a16:rowId xmlns:a16="http://schemas.microsoft.com/office/drawing/2014/main" val="10002"/>
                  </a:ext>
                </a:extLst>
              </a:tr>
              <a:tr h="566928">
                <a:tc>
                  <a:txBody>
                    <a:bodyPr/>
                    <a:lstStyle/>
                    <a:p>
                      <a:r>
                        <a:rPr sz="1300" b="1">
                          <a:solidFill>
                            <a:schemeClr val="tx2"/>
                          </a:solidFill>
                          <a:latin typeface="Courier New"/>
                        </a:rPr>
                        <a:t>escalation</a:t>
                      </a:r>
                    </a:p>
                  </a:txBody>
                  <a:tcPr marL="109728" marR="109728" anchor="ctr">
                    <a:solidFill>
                      <a:schemeClr val="bg1"/>
                    </a:solidFill>
                  </a:tcPr>
                </a:tc>
                <a:tc>
                  <a:txBody>
                    <a:bodyPr/>
                    <a:lstStyle/>
                    <a:p>
                      <a:r>
                        <a:rPr sz="1400" b="0">
                          <a:solidFill>
                            <a:schemeClr val="tx2"/>
                          </a:solidFill>
                        </a:rPr>
                        <a:t>Acknowledgement timeout, contacts by priority</a:t>
                      </a:r>
                    </a:p>
                  </a:txBody>
                  <a:tcPr marL="109728" marR="109728" anchor="ctr">
                    <a:solidFill>
                      <a:schemeClr val="bg1"/>
                    </a:solidFill>
                  </a:tcPr>
                </a:tc>
                <a:tc>
                  <a:txBody>
                    <a:bodyPr/>
                    <a:lstStyle/>
                    <a:p>
                      <a:r>
                        <a:rPr sz="1400" b="0">
                          <a:solidFill>
                            <a:schemeClr val="tx2"/>
                          </a:solidFill>
                        </a:rPr>
                        <a:t>Tested</a:t>
                      </a:r>
                    </a:p>
                  </a:txBody>
                  <a:tcPr marL="109728" marR="109728" anchor="ctr">
                    <a:solidFill>
                      <a:schemeClr val="bg1"/>
                    </a:solidFill>
                  </a:tcPr>
                </a:tc>
                <a:extLst>
                  <a:ext uri="{0D108BD9-81ED-4DB2-BD59-A6C34878D82A}">
                    <a16:rowId xmlns:a16="http://schemas.microsoft.com/office/drawing/2014/main" val="10003"/>
                  </a:ext>
                </a:extLst>
              </a:tr>
              <a:tr h="566928">
                <a:tc>
                  <a:txBody>
                    <a:bodyPr/>
                    <a:lstStyle/>
                    <a:p>
                      <a:r>
                        <a:rPr sz="1300" b="1">
                          <a:solidFill>
                            <a:schemeClr val="tx2"/>
                          </a:solidFill>
                          <a:latin typeface="Courier New"/>
                        </a:rPr>
                        <a:t>calculator</a:t>
                      </a:r>
                    </a:p>
                  </a:txBody>
                  <a:tcPr marL="109728" marR="109728" anchor="ctr">
                    <a:solidFill>
                      <a:srgbClr val="F3F0EB"/>
                    </a:solidFill>
                  </a:tcPr>
                </a:tc>
                <a:tc>
                  <a:txBody>
                    <a:bodyPr/>
                    <a:lstStyle/>
                    <a:p>
                      <a:r>
                        <a:rPr sz="1400" b="0">
                          <a:solidFill>
                            <a:schemeClr val="tx2"/>
                          </a:solidFill>
                        </a:rPr>
                        <a:t>Educational ICR/ISF with hard limits</a:t>
                      </a:r>
                    </a:p>
                  </a:txBody>
                  <a:tcPr marL="109728" marR="109728" anchor="ctr">
                    <a:solidFill>
                      <a:srgbClr val="F3F0EB"/>
                    </a:solidFill>
                  </a:tcPr>
                </a:tc>
                <a:tc>
                  <a:txBody>
                    <a:bodyPr/>
                    <a:lstStyle/>
                    <a:p>
                      <a:r>
                        <a:rPr sz="1400" b="0">
                          <a:solidFill>
                            <a:schemeClr val="tx2"/>
                          </a:solidFill>
                        </a:rPr>
                        <a:t>Tested</a:t>
                      </a:r>
                    </a:p>
                  </a:txBody>
                  <a:tcPr marL="109728" marR="109728" anchor="ctr">
                    <a:solidFill>
                      <a:srgbClr val="F3F0EB"/>
                    </a:solidFill>
                  </a:tcPr>
                </a:tc>
                <a:extLst>
                  <a:ext uri="{0D108BD9-81ED-4DB2-BD59-A6C34878D82A}">
                    <a16:rowId xmlns:a16="http://schemas.microsoft.com/office/drawing/2014/main" val="10004"/>
                  </a:ext>
                </a:extLst>
              </a:tr>
              <a:tr h="566928">
                <a:tc>
                  <a:txBody>
                    <a:bodyPr/>
                    <a:lstStyle/>
                    <a:p>
                      <a:r>
                        <a:rPr sz="1300" b="1">
                          <a:solidFill>
                            <a:schemeClr val="tx2"/>
                          </a:solidFill>
                          <a:latin typeface="Courier New"/>
                        </a:rPr>
                        <a:t>food_response</a:t>
                      </a:r>
                    </a:p>
                  </a:txBody>
                  <a:tcPr marL="109728" marR="109728" anchor="ctr">
                    <a:solidFill>
                      <a:schemeClr val="bg1"/>
                    </a:solidFill>
                  </a:tcPr>
                </a:tc>
                <a:tc>
                  <a:txBody>
                    <a:bodyPr/>
                    <a:lstStyle/>
                    <a:p>
                      <a:r>
                        <a:rPr sz="1400" b="0">
                          <a:solidFill>
                            <a:schemeClr val="tx2"/>
                          </a:solidFill>
                        </a:rPr>
                        <a:t>Meal response, similar meals, explanation</a:t>
                      </a:r>
                    </a:p>
                  </a:txBody>
                  <a:tcPr marL="109728" marR="109728" anchor="ctr">
                    <a:solidFill>
                      <a:schemeClr val="bg1"/>
                    </a:solidFill>
                  </a:tcPr>
                </a:tc>
                <a:tc>
                  <a:txBody>
                    <a:bodyPr/>
                    <a:lstStyle/>
                    <a:p>
                      <a:r>
                        <a:rPr sz="1400" b="0">
                          <a:solidFill>
                            <a:schemeClr val="tx2"/>
                          </a:solidFill>
                        </a:rPr>
                        <a:t>Tested</a:t>
                      </a:r>
                    </a:p>
                  </a:txBody>
                  <a:tcPr marL="109728" marR="109728" anchor="ctr">
                    <a:solidFill>
                      <a:schemeClr val="bg1"/>
                    </a:solidFill>
                  </a:tcPr>
                </a:tc>
                <a:extLst>
                  <a:ext uri="{0D108BD9-81ED-4DB2-BD59-A6C34878D82A}">
                    <a16:rowId xmlns:a16="http://schemas.microsoft.com/office/drawing/2014/main" val="10005"/>
                  </a:ext>
                </a:extLst>
              </a:tr>
            </a:tbl>
          </a:graphicData>
        </a:graphic>
      </p:graphicFrame>
      <p:sp>
        <p:nvSpPr>
          <p:cNvPr id="5" name="Design rules"/>
          <p:cNvSpPr/>
          <p:nvPr/>
        </p:nvSpPr>
        <p:spPr>
          <a:xfrm>
            <a:off x="7897672" y="2057400"/>
            <a:ext cx="3157423" cy="3291840"/>
          </a:xfrm>
          <a:prstGeom prst="roundRect">
            <a:avLst>
              <a:gd name="adj" fmla="val 6000"/>
            </a:avLst>
          </a:prstGeom>
          <a:solidFill>
            <a:schemeClr val="bg1"/>
          </a:solidFill>
          <a:ln w="9525">
            <a:solidFill>
              <a:srgbClr val="D5D0C8"/>
            </a:solidFill>
          </a:ln>
          <a:effectLst/>
        </p:spPr>
        <p:style>
          <a:lnRef idx="1">
            <a:schemeClr val="accent1"/>
          </a:lnRef>
          <a:fillRef idx="3">
            <a:schemeClr val="accent1"/>
          </a:fillRef>
          <a:effectRef idx="2">
            <a:schemeClr val="accent1"/>
          </a:effectRef>
          <a:fontRef idx="minor">
            <a:schemeClr val="lt1"/>
          </a:fontRef>
        </p:style>
        <p:txBody>
          <a:bodyPr wrap="square" lIns="228600" tIns="228600" rIns="228600" bIns="228600" rtlCol="0" anchor="t">
            <a:noAutofit/>
          </a:bodyPr>
          <a:lstStyle/>
          <a:p>
            <a:pPr algn="l">
              <a:lnSpc>
                <a:spcPct val="105000"/>
              </a:lnSpc>
              <a:spcAft>
                <a:spcPts val="800"/>
              </a:spcAft>
            </a:pPr>
            <a:r>
              <a:rPr sz="2000" b="1" i="0">
                <a:solidFill>
                  <a:schemeClr val="accent1"/>
                </a:solidFill>
              </a:rPr>
              <a:t>Design rules</a:t>
            </a:r>
          </a:p>
          <a:p>
            <a:pPr marL="246888" indent="-246888" algn="l">
              <a:lnSpc>
                <a:spcPct val="105000"/>
              </a:lnSpc>
              <a:spcAft>
                <a:spcPts val="800"/>
              </a:spcAft>
              <a:buClr>
                <a:schemeClr val="accent1"/>
              </a:buClr>
              <a:buFont typeface="Arial"/>
              <a:buChar char="•"/>
            </a:pPr>
            <a:r>
              <a:rPr sz="1500" b="0" i="0">
                <a:solidFill>
                  <a:schemeClr val="tx2"/>
                </a:solidFill>
              </a:rPr>
              <a:t>Safety logic is fixed rules in a config file</a:t>
            </a:r>
          </a:p>
          <a:p>
            <a:pPr marL="246888" indent="-246888" algn="l">
              <a:lnSpc>
                <a:spcPct val="105000"/>
              </a:lnSpc>
              <a:spcAft>
                <a:spcPts val="800"/>
              </a:spcAft>
              <a:buClr>
                <a:schemeClr val="accent1"/>
              </a:buClr>
              <a:buFont typeface="Arial"/>
              <a:buChar char="•"/>
            </a:pPr>
            <a:r>
              <a:rPr sz="1500" b="0" i="0">
                <a:solidFill>
                  <a:schemeClr val="tx2"/>
                </a:solidFill>
              </a:rPr>
              <a:t>The calculator needs user-entered ICR and ISF</a:t>
            </a:r>
          </a:p>
          <a:p>
            <a:pPr marL="246888" indent="-246888" algn="l">
              <a:lnSpc>
                <a:spcPct val="105000"/>
              </a:lnSpc>
              <a:buClr>
                <a:schemeClr val="accent1"/>
              </a:buClr>
              <a:buFont typeface="Arial"/>
              <a:buChar char="•"/>
            </a:pPr>
            <a:r>
              <a:rPr sz="1500" b="0" i="0">
                <a:solidFill>
                  <a:schemeClr val="tx2"/>
                </a:solidFill>
              </a:rPr>
              <a:t>Every recommendation shows its evidence</a:t>
            </a:r>
          </a:p>
        </p:txBody>
      </p:sp>
      <p:sp>
        <p:nvSpPr>
          <p:cNvPr id="6" name="Footnote"/>
          <p:cNvSpPr txBox="1"/>
          <p:nvPr/>
        </p:nvSpPr>
        <p:spPr>
          <a:xfrm>
            <a:off x="1451152" y="5577840"/>
            <a:ext cx="9603943" cy="548640"/>
          </a:xfrm>
          <a:prstGeom prst="rect">
            <a:avLst/>
          </a:prstGeom>
          <a:noFill/>
        </p:spPr>
        <p:txBody>
          <a:bodyPr wrap="square" lIns="0" tIns="0" rIns="0" bIns="0" anchor="t">
            <a:noAutofit/>
          </a:bodyPr>
          <a:lstStyle/>
          <a:p>
            <a:pPr algn="l">
              <a:lnSpc>
                <a:spcPct val="105000"/>
              </a:lnSpc>
            </a:pPr>
            <a:r>
              <a:rPr sz="1400" b="0" i="0">
                <a:solidFill>
                  <a:srgbClr val="5F5A54"/>
                </a:solidFill>
              </a:rPr>
              <a:t>Pure Python, no dependencies  |  30 unit tests passing  |  hupa_eval.py runs the model on HUPA-UCM</a:t>
            </a:r>
          </a:p>
        </p:txBody>
      </p:sp>
    </p:spTree>
  </p:cSld>
  <p:clrMapOvr>
    <a:masterClrMapping/>
  </p:clrMapOvr>
  <p:transition spd="slow">
    <p:wip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ctr"/>
          <a:lstStyle/>
          <a:p>
            <a:r>
              <a:rPr lang="en-US">
                <a:effectLst>
                  <a:outerShdw blurRad="38100" dist="38100" dir="2700000" algn="tl">
                    <a:srgbClr val="000000">
                      <a:alpha val="43137"/>
                    </a:srgbClr>
                  </a:outerShdw>
                </a:effectLst>
              </a:rPr>
              <a:t>Safety Design</a:t>
            </a:r>
          </a:p>
        </p:txBody>
      </p:sp>
      <p:sp>
        <p:nvSpPr>
          <p:cNvPr id="3" name="Slide Number Placeholder 3"/>
          <p:cNvSpPr>
            <a:spLocks noGrp="1"/>
          </p:cNvSpPr>
          <p:nvPr>
            <p:ph type="sldNum" sz="quarter" idx="12"/>
          </p:nvPr>
        </p:nvSpPr>
        <p:spPr/>
        <p:txBody>
          <a:bodyPr/>
          <a:lstStyle/>
          <a:p>
            <a:fld id="{A0E71F06-E3F5-E242-AD46-023EB074373D}" type="slidenum">
              <a:rPr lang="x-none" smtClean="0"/>
              <a:t>11</a:t>
            </a:fld>
            <a:endParaRPr lang="x-none"/>
          </a:p>
        </p:txBody>
      </p:sp>
      <p:sp>
        <p:nvSpPr>
          <p:cNvPr id="4" name="Rules, not AI"/>
          <p:cNvSpPr/>
          <p:nvPr/>
        </p:nvSpPr>
        <p:spPr>
          <a:xfrm>
            <a:off x="1451152" y="2057400"/>
            <a:ext cx="4687671" cy="1965960"/>
          </a:xfrm>
          <a:prstGeom prst="roundRect">
            <a:avLst>
              <a:gd name="adj" fmla="val 6000"/>
            </a:avLst>
          </a:prstGeom>
          <a:solidFill>
            <a:schemeClr val="bg1"/>
          </a:solidFill>
          <a:ln w="9525">
            <a:solidFill>
              <a:srgbClr val="D5D0C8"/>
            </a:solidFill>
          </a:ln>
          <a:effectLst/>
        </p:spPr>
        <p:style>
          <a:lnRef idx="1">
            <a:schemeClr val="accent1"/>
          </a:lnRef>
          <a:fillRef idx="3">
            <a:schemeClr val="accent1"/>
          </a:fillRef>
          <a:effectRef idx="2">
            <a:schemeClr val="accent1"/>
          </a:effectRef>
          <a:fontRef idx="minor">
            <a:schemeClr val="lt1"/>
          </a:fontRef>
        </p:style>
        <p:txBody>
          <a:bodyPr wrap="square" lIns="201168" tIns="201168" rIns="201168" bIns="201168" rtlCol="0" anchor="t">
            <a:noAutofit/>
          </a:bodyPr>
          <a:lstStyle/>
          <a:p>
            <a:pPr algn="l">
              <a:lnSpc>
                <a:spcPct val="105000"/>
              </a:lnSpc>
              <a:spcAft>
                <a:spcPts val="600"/>
              </a:spcAft>
            </a:pPr>
            <a:r>
              <a:rPr sz="2000" b="1" i="0">
                <a:solidFill>
                  <a:schemeClr val="accent1"/>
                </a:solidFill>
              </a:rPr>
              <a:t>Rules, not AI</a:t>
            </a:r>
          </a:p>
          <a:p>
            <a:pPr algn="l">
              <a:lnSpc>
                <a:spcPct val="105000"/>
              </a:lnSpc>
            </a:pPr>
            <a:r>
              <a:rPr sz="1500" b="0" i="0">
                <a:solidFill>
                  <a:schemeClr val="tx2"/>
                </a:solidFill>
              </a:rPr>
              <a:t>Alert thresholds are fixed values in a config file that a clinician reviews. No model decides alerts or treatment.</a:t>
            </a:r>
          </a:p>
        </p:txBody>
      </p:sp>
      <p:sp>
        <p:nvSpPr>
          <p:cNvPr id="5" name="Educational calculator"/>
          <p:cNvSpPr/>
          <p:nvPr/>
        </p:nvSpPr>
        <p:spPr>
          <a:xfrm>
            <a:off x="6367424" y="2057400"/>
            <a:ext cx="4687671" cy="1965960"/>
          </a:xfrm>
          <a:prstGeom prst="roundRect">
            <a:avLst>
              <a:gd name="adj" fmla="val 6000"/>
            </a:avLst>
          </a:prstGeom>
          <a:solidFill>
            <a:schemeClr val="bg1"/>
          </a:solidFill>
          <a:ln w="9525">
            <a:solidFill>
              <a:srgbClr val="D5D0C8"/>
            </a:solidFill>
          </a:ln>
          <a:effectLst/>
        </p:spPr>
        <p:style>
          <a:lnRef idx="1">
            <a:schemeClr val="accent1"/>
          </a:lnRef>
          <a:fillRef idx="3">
            <a:schemeClr val="accent1"/>
          </a:fillRef>
          <a:effectRef idx="2">
            <a:schemeClr val="accent1"/>
          </a:effectRef>
          <a:fontRef idx="minor">
            <a:schemeClr val="lt1"/>
          </a:fontRef>
        </p:style>
        <p:txBody>
          <a:bodyPr wrap="square" lIns="201168" tIns="201168" rIns="201168" bIns="201168" rtlCol="0" anchor="t">
            <a:noAutofit/>
          </a:bodyPr>
          <a:lstStyle/>
          <a:p>
            <a:pPr algn="l">
              <a:lnSpc>
                <a:spcPct val="105000"/>
              </a:lnSpc>
              <a:spcAft>
                <a:spcPts val="600"/>
              </a:spcAft>
            </a:pPr>
            <a:r>
              <a:rPr sz="2000" b="1" i="0">
                <a:solidFill>
                  <a:schemeClr val="accent1"/>
                </a:solidFill>
              </a:rPr>
              <a:t>Educational calculator</a:t>
            </a:r>
          </a:p>
          <a:p>
            <a:pPr algn="l">
              <a:lnSpc>
                <a:spcPct val="105000"/>
              </a:lnSpc>
            </a:pPr>
            <a:r>
              <a:rPr sz="1500" b="0" i="0">
                <a:solidFill>
                  <a:schemeClr val="tx2"/>
                </a:solidFill>
              </a:rPr>
              <a:t>ICR and ISF come from the user and are range-checked. No dose when glucose is low, confirmation above a unit limit, never auto-filled.</a:t>
            </a:r>
          </a:p>
        </p:txBody>
      </p:sp>
      <p:sp>
        <p:nvSpPr>
          <p:cNvPr id="6" name="Server-side escalation"/>
          <p:cNvSpPr/>
          <p:nvPr/>
        </p:nvSpPr>
        <p:spPr>
          <a:xfrm>
            <a:off x="1451152" y="4251960"/>
            <a:ext cx="4687671" cy="1965960"/>
          </a:xfrm>
          <a:prstGeom prst="roundRect">
            <a:avLst>
              <a:gd name="adj" fmla="val 6000"/>
            </a:avLst>
          </a:prstGeom>
          <a:solidFill>
            <a:schemeClr val="bg1"/>
          </a:solidFill>
          <a:ln w="9525">
            <a:solidFill>
              <a:srgbClr val="D5D0C8"/>
            </a:solidFill>
          </a:ln>
          <a:effectLst/>
        </p:spPr>
        <p:style>
          <a:lnRef idx="1">
            <a:schemeClr val="accent1"/>
          </a:lnRef>
          <a:fillRef idx="3">
            <a:schemeClr val="accent1"/>
          </a:fillRef>
          <a:effectRef idx="2">
            <a:schemeClr val="accent1"/>
          </a:effectRef>
          <a:fontRef idx="minor">
            <a:schemeClr val="lt1"/>
          </a:fontRef>
        </p:style>
        <p:txBody>
          <a:bodyPr wrap="square" lIns="201168" tIns="201168" rIns="201168" bIns="201168" rtlCol="0" anchor="t">
            <a:noAutofit/>
          </a:bodyPr>
          <a:lstStyle/>
          <a:p>
            <a:pPr algn="l">
              <a:lnSpc>
                <a:spcPct val="105000"/>
              </a:lnSpc>
              <a:spcAft>
                <a:spcPts val="600"/>
              </a:spcAft>
            </a:pPr>
            <a:r>
              <a:rPr sz="2000" b="1" i="0">
                <a:solidFill>
                  <a:schemeClr val="accent1"/>
                </a:solidFill>
              </a:rPr>
              <a:t>Server-side escalation</a:t>
            </a:r>
          </a:p>
          <a:p>
            <a:pPr algn="l">
              <a:lnSpc>
                <a:spcPct val="105000"/>
              </a:lnSpc>
            </a:pPr>
            <a:r>
              <a:rPr sz="1500" b="0" i="0">
                <a:solidFill>
                  <a:schemeClr val="tx2"/>
                </a:solidFill>
              </a:rPr>
              <a:t>Timers run on the server, not the phone. Push first, SMS as fallback, so a silenced phone does not stop an alert.</a:t>
            </a:r>
          </a:p>
        </p:txBody>
      </p:sp>
      <p:sp>
        <p:nvSpPr>
          <p:cNvPr id="7" name="Privacy"/>
          <p:cNvSpPr/>
          <p:nvPr/>
        </p:nvSpPr>
        <p:spPr>
          <a:xfrm>
            <a:off x="6367424" y="4251960"/>
            <a:ext cx="4687671" cy="1965960"/>
          </a:xfrm>
          <a:prstGeom prst="roundRect">
            <a:avLst>
              <a:gd name="adj" fmla="val 6000"/>
            </a:avLst>
          </a:prstGeom>
          <a:solidFill>
            <a:schemeClr val="bg1"/>
          </a:solidFill>
          <a:ln w="9525">
            <a:solidFill>
              <a:srgbClr val="D5D0C8"/>
            </a:solidFill>
          </a:ln>
          <a:effectLst/>
        </p:spPr>
        <p:style>
          <a:lnRef idx="1">
            <a:schemeClr val="accent1"/>
          </a:lnRef>
          <a:fillRef idx="3">
            <a:schemeClr val="accent1"/>
          </a:fillRef>
          <a:effectRef idx="2">
            <a:schemeClr val="accent1"/>
          </a:effectRef>
          <a:fontRef idx="minor">
            <a:schemeClr val="lt1"/>
          </a:fontRef>
        </p:style>
        <p:txBody>
          <a:bodyPr wrap="square" lIns="201168" tIns="201168" rIns="201168" bIns="201168" rtlCol="0" anchor="t">
            <a:noAutofit/>
          </a:bodyPr>
          <a:lstStyle/>
          <a:p>
            <a:pPr algn="l">
              <a:lnSpc>
                <a:spcPct val="105000"/>
              </a:lnSpc>
              <a:spcAft>
                <a:spcPts val="600"/>
              </a:spcAft>
            </a:pPr>
            <a:r>
              <a:rPr sz="2000" b="1" i="0">
                <a:solidFill>
                  <a:schemeClr val="accent1"/>
                </a:solidFill>
              </a:rPr>
              <a:t>Privacy</a:t>
            </a:r>
          </a:p>
          <a:p>
            <a:pPr algn="l">
              <a:lnSpc>
                <a:spcPct val="105000"/>
              </a:lnSpc>
            </a:pPr>
            <a:r>
              <a:rPr sz="1500" b="0" i="0">
                <a:solidFill>
                  <a:schemeClr val="tx2"/>
                </a:solidFill>
              </a:rPr>
              <a:t>Health data is encrypted, each contact gives consent, and users can delete their data. Egypt's Personal Data Protection Law applies [3].</a:t>
            </a:r>
          </a:p>
        </p:txBody>
      </p:sp>
    </p:spTree>
  </p:cSld>
  <p:clrMapOvr>
    <a:masterClrMapping/>
  </p:clrMapOvr>
  <p:transition spd="slow">
    <p:wip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ctr"/>
          <a:lstStyle/>
          <a:p>
            <a:r>
              <a:rPr lang="en-US">
                <a:effectLst>
                  <a:outerShdw blurRad="38100" dist="38100" dir="2700000" algn="tl">
                    <a:srgbClr val="000000">
                      <a:alpha val="43137"/>
                    </a:srgbClr>
                  </a:outerShdw>
                </a:effectLst>
              </a:rPr>
              <a:t>Escalation Chain</a:t>
            </a:r>
          </a:p>
        </p:txBody>
      </p:sp>
      <p:sp>
        <p:nvSpPr>
          <p:cNvPr id="3" name="Slide Number Placeholder 3"/>
          <p:cNvSpPr>
            <a:spLocks noGrp="1"/>
          </p:cNvSpPr>
          <p:nvPr>
            <p:ph type="sldNum" sz="quarter" idx="12"/>
          </p:nvPr>
        </p:nvSpPr>
        <p:spPr/>
        <p:txBody>
          <a:bodyPr/>
          <a:lstStyle/>
          <a:p>
            <a:fld id="{A0E71F06-E3F5-E242-AD46-023EB074373D}" type="slidenum">
              <a:rPr lang="x-none" smtClean="0"/>
              <a:t>12</a:t>
            </a:fld>
            <a:endParaRPr lang="x-none"/>
          </a:p>
        </p:txBody>
      </p:sp>
      <p:sp>
        <p:nvSpPr>
          <p:cNvPr id="4" name="Scenario"/>
          <p:cNvSpPr txBox="1"/>
          <p:nvPr/>
        </p:nvSpPr>
        <p:spPr>
          <a:xfrm>
            <a:off x="1451152" y="2011680"/>
            <a:ext cx="9603943" cy="365760"/>
          </a:xfrm>
          <a:prstGeom prst="rect">
            <a:avLst/>
          </a:prstGeom>
          <a:noFill/>
        </p:spPr>
        <p:txBody>
          <a:bodyPr wrap="square" lIns="0" tIns="0" rIns="0" bIns="0" anchor="t">
            <a:noAutofit/>
          </a:bodyPr>
          <a:lstStyle/>
          <a:p>
            <a:pPr algn="l">
              <a:lnSpc>
                <a:spcPct val="105000"/>
              </a:lnSpc>
            </a:pPr>
            <a:r>
              <a:rPr sz="1400" b="0" i="0">
                <a:solidFill>
                  <a:srgbClr val="5F5A54"/>
                </a:solidFill>
              </a:rPr>
              <a:t>Prototype run: urgent low of 46 mg/dL, user does not respond (times in minutes). Real lows this deep occur in HUPA-UCM: 22 of 25 patients went below 54 mg/dL.</a:t>
            </a:r>
          </a:p>
        </p:txBody>
      </p:sp>
      <p:sp>
        <p:nvSpPr>
          <p:cNvPr id="5" name="Timeline"/>
          <p:cNvSpPr/>
          <p:nvPr/>
        </p:nvSpPr>
        <p:spPr>
          <a:xfrm>
            <a:off x="2091232" y="3246120"/>
            <a:ext cx="8323783" cy="45720"/>
          </a:xfrm>
          <a:prstGeom prst="rect">
            <a:avLst/>
          </a:prstGeom>
          <a:solidFill>
            <a:srgbClr val="B9B2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Badge +0"/>
          <p:cNvSpPr/>
          <p:nvPr/>
        </p:nvSpPr>
        <p:spPr>
          <a:xfrm>
            <a:off x="2182672" y="2907792"/>
            <a:ext cx="731520" cy="731520"/>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lnSpc>
                <a:spcPct val="105000"/>
              </a:lnSpc>
            </a:pPr>
            <a:r>
              <a:rPr sz="1600" b="1" i="0">
                <a:solidFill>
                  <a:schemeClr val="bg1"/>
                </a:solidFill>
              </a:rPr>
              <a:t>+0</a:t>
            </a:r>
          </a:p>
        </p:txBody>
      </p:sp>
      <p:sp>
        <p:nvSpPr>
          <p:cNvPr id="7" name="Node 1 label"/>
          <p:cNvSpPr txBox="1"/>
          <p:nvPr/>
        </p:nvSpPr>
        <p:spPr>
          <a:xfrm>
            <a:off x="1451152" y="3749039"/>
            <a:ext cx="2194560" cy="914400"/>
          </a:xfrm>
          <a:prstGeom prst="rect">
            <a:avLst/>
          </a:prstGeom>
          <a:noFill/>
        </p:spPr>
        <p:txBody>
          <a:bodyPr wrap="square" lIns="0" tIns="0" rIns="0" bIns="0" anchor="t">
            <a:noAutofit/>
          </a:bodyPr>
          <a:lstStyle/>
          <a:p>
            <a:pPr algn="ctr">
              <a:lnSpc>
                <a:spcPct val="105000"/>
              </a:lnSpc>
              <a:spcAft>
                <a:spcPts val="200"/>
              </a:spcAft>
            </a:pPr>
            <a:r>
              <a:rPr sz="1600" b="1" i="0">
                <a:solidFill>
                  <a:schemeClr val="tx1"/>
                </a:solidFill>
              </a:rPr>
              <a:t>User alerted</a:t>
            </a:r>
          </a:p>
          <a:p>
            <a:pPr algn="ctr">
              <a:lnSpc>
                <a:spcPct val="105000"/>
              </a:lnSpc>
            </a:pPr>
            <a:r>
              <a:rPr sz="1400" b="0" i="0">
                <a:solidFill>
                  <a:schemeClr val="tx2"/>
                </a:solidFill>
              </a:rPr>
              <a:t>Asked to acknowledge</a:t>
            </a:r>
          </a:p>
        </p:txBody>
      </p:sp>
      <p:sp>
        <p:nvSpPr>
          <p:cNvPr id="8" name="Badge +10"/>
          <p:cNvSpPr/>
          <p:nvPr/>
        </p:nvSpPr>
        <p:spPr>
          <a:xfrm>
            <a:off x="4652467" y="2907792"/>
            <a:ext cx="731520" cy="731520"/>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lnSpc>
                <a:spcPct val="105000"/>
              </a:lnSpc>
            </a:pPr>
            <a:r>
              <a:rPr sz="1600" b="1" i="0">
                <a:solidFill>
                  <a:schemeClr val="bg1"/>
                </a:solidFill>
              </a:rPr>
              <a:t>+10</a:t>
            </a:r>
          </a:p>
        </p:txBody>
      </p:sp>
      <p:sp>
        <p:nvSpPr>
          <p:cNvPr id="9" name="Node 2 label"/>
          <p:cNvSpPr txBox="1"/>
          <p:nvPr/>
        </p:nvSpPr>
        <p:spPr>
          <a:xfrm>
            <a:off x="3920947" y="3749039"/>
            <a:ext cx="2194560" cy="914400"/>
          </a:xfrm>
          <a:prstGeom prst="rect">
            <a:avLst/>
          </a:prstGeom>
          <a:noFill/>
        </p:spPr>
        <p:txBody>
          <a:bodyPr wrap="square" lIns="0" tIns="0" rIns="0" bIns="0" anchor="t">
            <a:noAutofit/>
          </a:bodyPr>
          <a:lstStyle/>
          <a:p>
            <a:pPr algn="ctr">
              <a:lnSpc>
                <a:spcPct val="105000"/>
              </a:lnSpc>
              <a:spcAft>
                <a:spcPts val="200"/>
              </a:spcAft>
            </a:pPr>
            <a:r>
              <a:rPr sz="1600" b="1" i="0">
                <a:solidFill>
                  <a:schemeClr val="tx1"/>
                </a:solidFill>
              </a:rPr>
              <a:t>Contact 1</a:t>
            </a:r>
          </a:p>
          <a:p>
            <a:pPr algn="ctr">
              <a:lnSpc>
                <a:spcPct val="105000"/>
              </a:lnSpc>
            </a:pPr>
            <a:r>
              <a:rPr sz="1400" b="0" i="0">
                <a:solidFill>
                  <a:schemeClr val="tx2"/>
                </a:solidFill>
              </a:rPr>
              <a:t>Notified: user has not responded</a:t>
            </a:r>
          </a:p>
        </p:txBody>
      </p:sp>
      <p:sp>
        <p:nvSpPr>
          <p:cNvPr id="10" name="Badge +20"/>
          <p:cNvSpPr/>
          <p:nvPr/>
        </p:nvSpPr>
        <p:spPr>
          <a:xfrm>
            <a:off x="7122261" y="2907792"/>
            <a:ext cx="731520" cy="731520"/>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lnSpc>
                <a:spcPct val="105000"/>
              </a:lnSpc>
            </a:pPr>
            <a:r>
              <a:rPr sz="1600" b="1" i="0">
                <a:solidFill>
                  <a:schemeClr val="bg1"/>
                </a:solidFill>
              </a:rPr>
              <a:t>+20</a:t>
            </a:r>
          </a:p>
        </p:txBody>
      </p:sp>
      <p:sp>
        <p:nvSpPr>
          <p:cNvPr id="11" name="Node 3 label"/>
          <p:cNvSpPr txBox="1"/>
          <p:nvPr/>
        </p:nvSpPr>
        <p:spPr>
          <a:xfrm>
            <a:off x="6390741" y="3749039"/>
            <a:ext cx="2194560" cy="914400"/>
          </a:xfrm>
          <a:prstGeom prst="rect">
            <a:avLst/>
          </a:prstGeom>
          <a:noFill/>
        </p:spPr>
        <p:txBody>
          <a:bodyPr wrap="square" lIns="0" tIns="0" rIns="0" bIns="0" anchor="t">
            <a:noAutofit/>
          </a:bodyPr>
          <a:lstStyle/>
          <a:p>
            <a:pPr algn="ctr">
              <a:lnSpc>
                <a:spcPct val="105000"/>
              </a:lnSpc>
              <a:spcAft>
                <a:spcPts val="200"/>
              </a:spcAft>
            </a:pPr>
            <a:r>
              <a:rPr sz="1600" b="1" i="0">
                <a:solidFill>
                  <a:schemeClr val="tx1"/>
                </a:solidFill>
              </a:rPr>
              <a:t>Contact 2</a:t>
            </a:r>
          </a:p>
          <a:p>
            <a:pPr algn="ctr">
              <a:lnSpc>
                <a:spcPct val="105000"/>
              </a:lnSpc>
            </a:pPr>
            <a:r>
              <a:rPr sz="1400" b="0" i="0">
                <a:solidFill>
                  <a:schemeClr val="tx2"/>
                </a:solidFill>
              </a:rPr>
              <a:t>Notified if still no response</a:t>
            </a:r>
          </a:p>
        </p:txBody>
      </p:sp>
      <p:sp>
        <p:nvSpPr>
          <p:cNvPr id="12" name="Badge +30"/>
          <p:cNvSpPr/>
          <p:nvPr/>
        </p:nvSpPr>
        <p:spPr>
          <a:xfrm>
            <a:off x="9592056" y="2907792"/>
            <a:ext cx="731520" cy="731520"/>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lnSpc>
                <a:spcPct val="105000"/>
              </a:lnSpc>
            </a:pPr>
            <a:r>
              <a:rPr sz="1600" b="1" i="0">
                <a:solidFill>
                  <a:schemeClr val="bg1"/>
                </a:solidFill>
              </a:rPr>
              <a:t>+30</a:t>
            </a:r>
          </a:p>
        </p:txBody>
      </p:sp>
      <p:sp>
        <p:nvSpPr>
          <p:cNvPr id="13" name="Node 4 label"/>
          <p:cNvSpPr txBox="1"/>
          <p:nvPr/>
        </p:nvSpPr>
        <p:spPr>
          <a:xfrm>
            <a:off x="8860536" y="3749039"/>
            <a:ext cx="2194560" cy="914400"/>
          </a:xfrm>
          <a:prstGeom prst="rect">
            <a:avLst/>
          </a:prstGeom>
          <a:noFill/>
        </p:spPr>
        <p:txBody>
          <a:bodyPr wrap="square" lIns="0" tIns="0" rIns="0" bIns="0" anchor="t">
            <a:noAutofit/>
          </a:bodyPr>
          <a:lstStyle/>
          <a:p>
            <a:pPr algn="ctr">
              <a:lnSpc>
                <a:spcPct val="105000"/>
              </a:lnSpc>
              <a:spcAft>
                <a:spcPts val="200"/>
              </a:spcAft>
            </a:pPr>
            <a:r>
              <a:rPr sz="1600" b="1" i="0">
                <a:solidFill>
                  <a:schemeClr val="tx1"/>
                </a:solidFill>
              </a:rPr>
              <a:t>Contact 3</a:t>
            </a:r>
          </a:p>
          <a:p>
            <a:pPr algn="ctr">
              <a:lnSpc>
                <a:spcPct val="105000"/>
              </a:lnSpc>
            </a:pPr>
            <a:r>
              <a:rPr sz="1400" b="0" i="0">
                <a:solidFill>
                  <a:schemeClr val="tx2"/>
                </a:solidFill>
              </a:rPr>
              <a:t>Notified if still no response</a:t>
            </a:r>
          </a:p>
        </p:txBody>
      </p:sp>
      <p:sp>
        <p:nvSpPr>
          <p:cNvPr id="14" name="Stop rule"/>
          <p:cNvSpPr/>
          <p:nvPr/>
        </p:nvSpPr>
        <p:spPr>
          <a:xfrm>
            <a:off x="1451152" y="4892040"/>
            <a:ext cx="4687671" cy="1234440"/>
          </a:xfrm>
          <a:prstGeom prst="roundRect">
            <a:avLst>
              <a:gd name="adj" fmla="val 6000"/>
            </a:avLst>
          </a:prstGeom>
          <a:solidFill>
            <a:schemeClr val="bg1"/>
          </a:solidFill>
          <a:ln w="9525">
            <a:solidFill>
              <a:srgbClr val="D5D0C8"/>
            </a:solidFill>
          </a:ln>
          <a:effectLst/>
        </p:spPr>
        <p:style>
          <a:lnRef idx="1">
            <a:schemeClr val="accent1"/>
          </a:lnRef>
          <a:fillRef idx="3">
            <a:schemeClr val="accent1"/>
          </a:fillRef>
          <a:effectRef idx="2">
            <a:schemeClr val="accent1"/>
          </a:effectRef>
          <a:fontRef idx="minor">
            <a:schemeClr val="lt1"/>
          </a:fontRef>
        </p:style>
        <p:txBody>
          <a:bodyPr wrap="square" lIns="182880" tIns="182880" rIns="182880" bIns="182880" rtlCol="0" anchor="t">
            <a:noAutofit/>
          </a:bodyPr>
          <a:lstStyle/>
          <a:p>
            <a:pPr algn="l">
              <a:lnSpc>
                <a:spcPct val="105000"/>
              </a:lnSpc>
              <a:spcAft>
                <a:spcPts val="400"/>
              </a:spcAft>
            </a:pPr>
            <a:r>
              <a:rPr sz="1800" b="1" i="0">
                <a:solidFill>
                  <a:schemeClr val="accent1"/>
                </a:solidFill>
              </a:rPr>
              <a:t>Acknowledge or resolve</a:t>
            </a:r>
          </a:p>
          <a:p>
            <a:pPr algn="l">
              <a:lnSpc>
                <a:spcPct val="105000"/>
              </a:lnSpc>
            </a:pPr>
            <a:r>
              <a:rPr sz="1500" b="0" i="0">
                <a:solidFill>
                  <a:schemeClr val="tx2"/>
                </a:solidFill>
              </a:rPr>
              <a:t>At any point, the chain stops.</a:t>
            </a:r>
          </a:p>
        </p:txBody>
      </p:sp>
      <p:sp>
        <p:nvSpPr>
          <p:cNvPr id="15" name="Manual emergency"/>
          <p:cNvSpPr/>
          <p:nvPr/>
        </p:nvSpPr>
        <p:spPr>
          <a:xfrm>
            <a:off x="6367424" y="4892040"/>
            <a:ext cx="4687671" cy="1234440"/>
          </a:xfrm>
          <a:prstGeom prst="roundRect">
            <a:avLst>
              <a:gd name="adj" fmla="val 6000"/>
            </a:avLst>
          </a:prstGeom>
          <a:solidFill>
            <a:schemeClr val="bg1"/>
          </a:solidFill>
          <a:ln w="9525">
            <a:solidFill>
              <a:srgbClr val="D5D0C8"/>
            </a:solidFill>
          </a:ln>
          <a:effectLst/>
        </p:spPr>
        <p:style>
          <a:lnRef idx="1">
            <a:schemeClr val="accent1"/>
          </a:lnRef>
          <a:fillRef idx="3">
            <a:schemeClr val="accent1"/>
          </a:fillRef>
          <a:effectRef idx="2">
            <a:schemeClr val="accent1"/>
          </a:effectRef>
          <a:fontRef idx="minor">
            <a:schemeClr val="lt1"/>
          </a:fontRef>
        </p:style>
        <p:txBody>
          <a:bodyPr wrap="square" lIns="182880" tIns="182880" rIns="182880" bIns="182880" rtlCol="0" anchor="t">
            <a:noAutofit/>
          </a:bodyPr>
          <a:lstStyle/>
          <a:p>
            <a:pPr algn="l">
              <a:lnSpc>
                <a:spcPct val="105000"/>
              </a:lnSpc>
              <a:spcAft>
                <a:spcPts val="400"/>
              </a:spcAft>
            </a:pPr>
            <a:r>
              <a:rPr sz="1800" b="1" i="0">
                <a:solidFill>
                  <a:schemeClr val="accent1"/>
                </a:solidFill>
              </a:rPr>
              <a:t>I'm Not Okay</a:t>
            </a:r>
          </a:p>
          <a:p>
            <a:pPr algn="l">
              <a:lnSpc>
                <a:spcPct val="105000"/>
              </a:lnSpc>
            </a:pPr>
            <a:r>
              <a:rPr sz="1500" b="0" i="0">
                <a:solidFill>
                  <a:schemeClr val="tx2"/>
                </a:solidFill>
              </a:rPr>
              <a:t>Every contact is notified at once, with current glucose and emergency info.</a:t>
            </a:r>
          </a:p>
        </p:txBody>
      </p:sp>
    </p:spTree>
  </p:cSld>
  <p:clrMapOvr>
    <a:masterClrMapping/>
  </p:clrMapOvr>
  <p:transition spd="slow">
    <p:wip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ctr"/>
          <a:lstStyle/>
          <a:p>
            <a:r>
              <a:rPr lang="en-US">
                <a:effectLst>
                  <a:outerShdw blurRad="38100" dist="38100" dir="2700000" algn="tl">
                    <a:srgbClr val="000000">
                      <a:alpha val="43137"/>
                    </a:srgbClr>
                  </a:outerShdw>
                </a:effectLst>
              </a:rPr>
              <a:t>Proposed Model</a:t>
            </a:r>
          </a:p>
        </p:txBody>
      </p:sp>
      <p:sp>
        <p:nvSpPr>
          <p:cNvPr id="3" name="Slide Number Placeholder 3"/>
          <p:cNvSpPr>
            <a:spLocks noGrp="1"/>
          </p:cNvSpPr>
          <p:nvPr>
            <p:ph type="sldNum" sz="quarter" idx="12"/>
          </p:nvPr>
        </p:nvSpPr>
        <p:spPr/>
        <p:txBody>
          <a:bodyPr/>
          <a:lstStyle/>
          <a:p>
            <a:fld id="{A0E71F06-E3F5-E242-AD46-023EB074373D}" type="slidenum">
              <a:rPr lang="x-none" smtClean="0"/>
              <a:t>13</a:t>
            </a:fld>
            <a:endParaRPr lang="x-none"/>
          </a:p>
        </p:txBody>
      </p:sp>
      <p:sp>
        <p:nvSpPr>
          <p:cNvPr id="4" name="Stage 1"/>
          <p:cNvSpPr/>
          <p:nvPr/>
        </p:nvSpPr>
        <p:spPr>
          <a:xfrm>
            <a:off x="1451152" y="2057400"/>
            <a:ext cx="1700784" cy="1828800"/>
          </a:xfrm>
          <a:prstGeom prst="roundRect">
            <a:avLst>
              <a:gd name="adj" fmla="val 6000"/>
            </a:avLst>
          </a:prstGeom>
          <a:solidFill>
            <a:schemeClr val="bg1"/>
          </a:solidFill>
          <a:ln w="9525">
            <a:solidFill>
              <a:srgbClr val="D5D0C8"/>
            </a:solidFill>
          </a:ln>
          <a:effectLst/>
        </p:spPr>
        <p:style>
          <a:lnRef idx="1">
            <a:schemeClr val="accent1"/>
          </a:lnRef>
          <a:fillRef idx="3">
            <a:schemeClr val="accent1"/>
          </a:fillRef>
          <a:effectRef idx="2">
            <a:schemeClr val="accent1"/>
          </a:effectRef>
          <a:fontRef idx="minor">
            <a:schemeClr val="lt1"/>
          </a:fontRef>
        </p:style>
        <p:txBody>
          <a:bodyPr wrap="square" lIns="164592" tIns="164592" rIns="164592" bIns="164592" rtlCol="0" anchor="t">
            <a:noAutofit/>
          </a:bodyPr>
          <a:lstStyle/>
          <a:p>
            <a:pPr algn="l">
              <a:lnSpc>
                <a:spcPct val="105000"/>
              </a:lnSpc>
              <a:spcAft>
                <a:spcPts val="0"/>
              </a:spcAft>
            </a:pPr>
            <a:r>
              <a:rPr sz="2400" b="1" i="0">
                <a:solidFill>
                  <a:schemeClr val="accent1"/>
                </a:solidFill>
              </a:rPr>
              <a:t>1</a:t>
            </a:r>
          </a:p>
          <a:p>
            <a:pPr algn="l">
              <a:lnSpc>
                <a:spcPct val="105000"/>
              </a:lnSpc>
              <a:spcAft>
                <a:spcPts val="400"/>
              </a:spcAft>
            </a:pPr>
            <a:r>
              <a:rPr sz="1800" b="1" i="0">
                <a:solidFill>
                  <a:schemeClr val="tx1"/>
                </a:solidFill>
              </a:rPr>
              <a:t>Log</a:t>
            </a:r>
          </a:p>
          <a:p>
            <a:pPr algn="l">
              <a:lnSpc>
                <a:spcPct val="105000"/>
              </a:lnSpc>
            </a:pPr>
            <a:r>
              <a:rPr sz="1400" b="0" i="0">
                <a:solidFill>
                  <a:schemeClr val="tx2"/>
                </a:solidFill>
              </a:rPr>
              <a:t>Meal, carbs, time</a:t>
            </a:r>
          </a:p>
        </p:txBody>
      </p:sp>
      <p:sp>
        <p:nvSpPr>
          <p:cNvPr id="5" name="Arrow"/>
          <p:cNvSpPr/>
          <p:nvPr/>
        </p:nvSpPr>
        <p:spPr>
          <a:xfrm>
            <a:off x="3188512" y="2834640"/>
            <a:ext cx="201167" cy="274320"/>
          </a:xfrm>
          <a:prstGeom prst="rightArrow">
            <a:avLst/>
          </a:prstGeom>
          <a:solidFill>
            <a:srgbClr val="B9B2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Stage 2"/>
          <p:cNvSpPr/>
          <p:nvPr/>
        </p:nvSpPr>
        <p:spPr>
          <a:xfrm>
            <a:off x="3426256" y="2057400"/>
            <a:ext cx="1700784" cy="1828800"/>
          </a:xfrm>
          <a:prstGeom prst="roundRect">
            <a:avLst>
              <a:gd name="adj" fmla="val 6000"/>
            </a:avLst>
          </a:prstGeom>
          <a:solidFill>
            <a:schemeClr val="bg1"/>
          </a:solidFill>
          <a:ln w="9525">
            <a:solidFill>
              <a:srgbClr val="D5D0C8"/>
            </a:solidFill>
          </a:ln>
          <a:effectLst/>
        </p:spPr>
        <p:style>
          <a:lnRef idx="1">
            <a:schemeClr val="accent1"/>
          </a:lnRef>
          <a:fillRef idx="3">
            <a:schemeClr val="accent1"/>
          </a:fillRef>
          <a:effectRef idx="2">
            <a:schemeClr val="accent1"/>
          </a:effectRef>
          <a:fontRef idx="minor">
            <a:schemeClr val="lt1"/>
          </a:fontRef>
        </p:style>
        <p:txBody>
          <a:bodyPr wrap="square" lIns="164592" tIns="164592" rIns="164592" bIns="164592" rtlCol="0" anchor="t">
            <a:noAutofit/>
          </a:bodyPr>
          <a:lstStyle/>
          <a:p>
            <a:pPr algn="l">
              <a:lnSpc>
                <a:spcPct val="105000"/>
              </a:lnSpc>
              <a:spcAft>
                <a:spcPts val="0"/>
              </a:spcAft>
            </a:pPr>
            <a:r>
              <a:rPr sz="2400" b="1" i="0">
                <a:solidFill>
                  <a:schemeClr val="accent1"/>
                </a:solidFill>
              </a:rPr>
              <a:t>2</a:t>
            </a:r>
          </a:p>
          <a:p>
            <a:pPr algn="l">
              <a:lnSpc>
                <a:spcPct val="105000"/>
              </a:lnSpc>
              <a:spcAft>
                <a:spcPts val="400"/>
              </a:spcAft>
            </a:pPr>
            <a:r>
              <a:rPr sz="1800" b="1" i="0">
                <a:solidFill>
                  <a:schemeClr val="tx1"/>
                </a:solidFill>
              </a:rPr>
              <a:t>Baseline</a:t>
            </a:r>
          </a:p>
          <a:p>
            <a:pPr algn="l">
              <a:lnSpc>
                <a:spcPct val="105000"/>
              </a:lnSpc>
            </a:pPr>
            <a:r>
              <a:rPr sz="1400" b="0" i="0">
                <a:solidFill>
                  <a:schemeClr val="tx2"/>
                </a:solidFill>
              </a:rPr>
              <a:t>Glucose just before eating</a:t>
            </a:r>
          </a:p>
        </p:txBody>
      </p:sp>
      <p:sp>
        <p:nvSpPr>
          <p:cNvPr id="7" name="Arrow"/>
          <p:cNvSpPr/>
          <p:nvPr/>
        </p:nvSpPr>
        <p:spPr>
          <a:xfrm>
            <a:off x="5163616" y="2834640"/>
            <a:ext cx="201167" cy="274320"/>
          </a:xfrm>
          <a:prstGeom prst="rightArrow">
            <a:avLst/>
          </a:prstGeom>
          <a:solidFill>
            <a:srgbClr val="B9B2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Stage 3"/>
          <p:cNvSpPr/>
          <p:nvPr/>
        </p:nvSpPr>
        <p:spPr>
          <a:xfrm>
            <a:off x="5401360" y="2057400"/>
            <a:ext cx="1700784" cy="1828800"/>
          </a:xfrm>
          <a:prstGeom prst="roundRect">
            <a:avLst>
              <a:gd name="adj" fmla="val 6000"/>
            </a:avLst>
          </a:prstGeom>
          <a:solidFill>
            <a:schemeClr val="bg1"/>
          </a:solidFill>
          <a:ln w="9525">
            <a:solidFill>
              <a:srgbClr val="D5D0C8"/>
            </a:solidFill>
          </a:ln>
          <a:effectLst/>
        </p:spPr>
        <p:style>
          <a:lnRef idx="1">
            <a:schemeClr val="accent1"/>
          </a:lnRef>
          <a:fillRef idx="3">
            <a:schemeClr val="accent1"/>
          </a:fillRef>
          <a:effectRef idx="2">
            <a:schemeClr val="accent1"/>
          </a:effectRef>
          <a:fontRef idx="minor">
            <a:schemeClr val="lt1"/>
          </a:fontRef>
        </p:style>
        <p:txBody>
          <a:bodyPr wrap="square" lIns="164592" tIns="164592" rIns="164592" bIns="164592" rtlCol="0" anchor="t">
            <a:noAutofit/>
          </a:bodyPr>
          <a:lstStyle/>
          <a:p>
            <a:pPr algn="l">
              <a:lnSpc>
                <a:spcPct val="105000"/>
              </a:lnSpc>
              <a:spcAft>
                <a:spcPts val="0"/>
              </a:spcAft>
            </a:pPr>
            <a:r>
              <a:rPr sz="2400" b="1" i="0">
                <a:solidFill>
                  <a:schemeClr val="accent1"/>
                </a:solidFill>
              </a:rPr>
              <a:t>3</a:t>
            </a:r>
          </a:p>
          <a:p>
            <a:pPr algn="l">
              <a:lnSpc>
                <a:spcPct val="105000"/>
              </a:lnSpc>
              <a:spcAft>
                <a:spcPts val="400"/>
              </a:spcAft>
            </a:pPr>
            <a:r>
              <a:rPr sz="1800" b="1" i="0">
                <a:solidFill>
                  <a:schemeClr val="tx1"/>
                </a:solidFill>
              </a:rPr>
              <a:t>Response</a:t>
            </a:r>
          </a:p>
          <a:p>
            <a:pPr algn="l">
              <a:lnSpc>
                <a:spcPct val="105000"/>
              </a:lnSpc>
            </a:pPr>
            <a:r>
              <a:rPr sz="1400" b="0" i="0">
                <a:solidFill>
                  <a:schemeClr val="tx2"/>
                </a:solidFill>
              </a:rPr>
              <a:t>Peak rise and 2-hour curve</a:t>
            </a:r>
          </a:p>
        </p:txBody>
      </p:sp>
      <p:sp>
        <p:nvSpPr>
          <p:cNvPr id="9" name="Arrow"/>
          <p:cNvSpPr/>
          <p:nvPr/>
        </p:nvSpPr>
        <p:spPr>
          <a:xfrm>
            <a:off x="7138720" y="2834640"/>
            <a:ext cx="201167" cy="274320"/>
          </a:xfrm>
          <a:prstGeom prst="rightArrow">
            <a:avLst/>
          </a:prstGeom>
          <a:solidFill>
            <a:srgbClr val="B9B2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Stage 4"/>
          <p:cNvSpPr/>
          <p:nvPr/>
        </p:nvSpPr>
        <p:spPr>
          <a:xfrm>
            <a:off x="7376464" y="2057400"/>
            <a:ext cx="1700784" cy="1828800"/>
          </a:xfrm>
          <a:prstGeom prst="roundRect">
            <a:avLst>
              <a:gd name="adj" fmla="val 6000"/>
            </a:avLst>
          </a:prstGeom>
          <a:solidFill>
            <a:schemeClr val="bg1"/>
          </a:solidFill>
          <a:ln w="9525">
            <a:solidFill>
              <a:srgbClr val="D5D0C8"/>
            </a:solidFill>
          </a:ln>
          <a:effectLst/>
        </p:spPr>
        <p:style>
          <a:lnRef idx="1">
            <a:schemeClr val="accent1"/>
          </a:lnRef>
          <a:fillRef idx="3">
            <a:schemeClr val="accent1"/>
          </a:fillRef>
          <a:effectRef idx="2">
            <a:schemeClr val="accent1"/>
          </a:effectRef>
          <a:fontRef idx="minor">
            <a:schemeClr val="lt1"/>
          </a:fontRef>
        </p:style>
        <p:txBody>
          <a:bodyPr wrap="square" lIns="164592" tIns="164592" rIns="164592" bIns="164592" rtlCol="0" anchor="t">
            <a:noAutofit/>
          </a:bodyPr>
          <a:lstStyle/>
          <a:p>
            <a:pPr algn="l">
              <a:lnSpc>
                <a:spcPct val="105000"/>
              </a:lnSpc>
              <a:spcAft>
                <a:spcPts val="0"/>
              </a:spcAft>
            </a:pPr>
            <a:r>
              <a:rPr sz="2400" b="1" i="0">
                <a:solidFill>
                  <a:schemeClr val="accent1"/>
                </a:solidFill>
              </a:rPr>
              <a:t>4</a:t>
            </a:r>
          </a:p>
          <a:p>
            <a:pPr algn="l">
              <a:lnSpc>
                <a:spcPct val="105000"/>
              </a:lnSpc>
              <a:spcAft>
                <a:spcPts val="400"/>
              </a:spcAft>
            </a:pPr>
            <a:r>
              <a:rPr sz="1800" b="1" i="0">
                <a:solidFill>
                  <a:schemeClr val="tx1"/>
                </a:solidFill>
              </a:rPr>
              <a:t>Match</a:t>
            </a:r>
          </a:p>
          <a:p>
            <a:pPr algn="l">
              <a:lnSpc>
                <a:spcPct val="105000"/>
              </a:lnSpc>
            </a:pPr>
            <a:r>
              <a:rPr sz="1400" b="0" i="0">
                <a:solidFill>
                  <a:schemeClr val="tx2"/>
                </a:solidFill>
              </a:rPr>
              <a:t>Most similar past meals</a:t>
            </a:r>
          </a:p>
        </p:txBody>
      </p:sp>
      <p:sp>
        <p:nvSpPr>
          <p:cNvPr id="11" name="Arrow"/>
          <p:cNvSpPr/>
          <p:nvPr/>
        </p:nvSpPr>
        <p:spPr>
          <a:xfrm>
            <a:off x="9113824" y="2834640"/>
            <a:ext cx="201167" cy="274320"/>
          </a:xfrm>
          <a:prstGeom prst="rightArrow">
            <a:avLst/>
          </a:prstGeom>
          <a:solidFill>
            <a:srgbClr val="B9B2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Stage 5"/>
          <p:cNvSpPr/>
          <p:nvPr/>
        </p:nvSpPr>
        <p:spPr>
          <a:xfrm>
            <a:off x="9351568" y="2057400"/>
            <a:ext cx="1700784" cy="1828800"/>
          </a:xfrm>
          <a:prstGeom prst="roundRect">
            <a:avLst>
              <a:gd name="adj" fmla="val 6000"/>
            </a:avLst>
          </a:prstGeom>
          <a:solidFill>
            <a:schemeClr val="bg1"/>
          </a:solidFill>
          <a:ln w="9525">
            <a:solidFill>
              <a:srgbClr val="D5D0C8"/>
            </a:solidFill>
          </a:ln>
          <a:effectLst/>
        </p:spPr>
        <p:style>
          <a:lnRef idx="1">
            <a:schemeClr val="accent1"/>
          </a:lnRef>
          <a:fillRef idx="3">
            <a:schemeClr val="accent1"/>
          </a:fillRef>
          <a:effectRef idx="2">
            <a:schemeClr val="accent1"/>
          </a:effectRef>
          <a:fontRef idx="minor">
            <a:schemeClr val="lt1"/>
          </a:fontRef>
        </p:style>
        <p:txBody>
          <a:bodyPr wrap="square" lIns="164592" tIns="164592" rIns="164592" bIns="164592" rtlCol="0" anchor="t">
            <a:noAutofit/>
          </a:bodyPr>
          <a:lstStyle/>
          <a:p>
            <a:pPr algn="l">
              <a:lnSpc>
                <a:spcPct val="105000"/>
              </a:lnSpc>
              <a:spcAft>
                <a:spcPts val="0"/>
              </a:spcAft>
            </a:pPr>
            <a:r>
              <a:rPr sz="2400" b="1" i="0">
                <a:solidFill>
                  <a:schemeClr val="accent1"/>
                </a:solidFill>
              </a:rPr>
              <a:t>5</a:t>
            </a:r>
          </a:p>
          <a:p>
            <a:pPr algn="l">
              <a:lnSpc>
                <a:spcPct val="105000"/>
              </a:lnSpc>
              <a:spcAft>
                <a:spcPts val="400"/>
              </a:spcAft>
            </a:pPr>
            <a:r>
              <a:rPr sz="1800" b="1" i="0">
                <a:solidFill>
                  <a:schemeClr val="tx1"/>
                </a:solidFill>
              </a:rPr>
              <a:t>Explain</a:t>
            </a:r>
          </a:p>
          <a:p>
            <a:pPr algn="l">
              <a:lnSpc>
                <a:spcPct val="105000"/>
              </a:lnSpc>
            </a:pPr>
            <a:r>
              <a:rPr sz="1400" b="0" i="0">
                <a:solidFill>
                  <a:schemeClr val="tx2"/>
                </a:solidFill>
              </a:rPr>
              <a:t>Show the evidence behind advice</a:t>
            </a:r>
          </a:p>
        </p:txBody>
      </p:sp>
      <p:sp>
        <p:nvSpPr>
          <p:cNvPr id="13" name="Example explanation"/>
          <p:cNvSpPr/>
          <p:nvPr/>
        </p:nvSpPr>
        <p:spPr>
          <a:xfrm>
            <a:off x="1451152" y="4114800"/>
            <a:ext cx="9603943" cy="1097280"/>
          </a:xfrm>
          <a:prstGeom prst="roundRect">
            <a:avLst>
              <a:gd name="adj" fmla="val 6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228600" rIns="228600" bIns="228600" rtlCol="0" anchor="ctr">
            <a:noAutofit/>
          </a:bodyPr>
          <a:lstStyle/>
          <a:p>
            <a:pPr algn="ctr">
              <a:lnSpc>
                <a:spcPct val="105000"/>
              </a:lnSpc>
            </a:pPr>
            <a:r>
              <a:rPr sz="2200" b="0" i="1">
                <a:solidFill>
                  <a:schemeClr val="bg1"/>
                </a:solidFill>
              </a:rPr>
              <a:t>“Similar meals in your records were followed by a larger glucose rise.”</a:t>
            </a:r>
          </a:p>
        </p:txBody>
      </p:sp>
      <p:sp>
        <p:nvSpPr>
          <p:cNvPr id="14" name="Method note"/>
          <p:cNvSpPr txBox="1"/>
          <p:nvPr/>
        </p:nvSpPr>
        <p:spPr>
          <a:xfrm>
            <a:off x="1451152" y="5394960"/>
            <a:ext cx="9603943" cy="822960"/>
          </a:xfrm>
          <a:prstGeom prst="rect">
            <a:avLst/>
          </a:prstGeom>
          <a:noFill/>
        </p:spPr>
        <p:txBody>
          <a:bodyPr wrap="square" lIns="0" tIns="0" rIns="0" bIns="0" anchor="t">
            <a:noAutofit/>
          </a:bodyPr>
          <a:lstStyle/>
          <a:p>
            <a:pPr algn="l">
              <a:lnSpc>
                <a:spcPct val="105000"/>
              </a:lnSpc>
            </a:pPr>
            <a:r>
              <a:rPr sz="1400" b="0" i="0">
                <a:solidFill>
                  <a:srgbClr val="5F5A54"/>
                </a:solidFill>
              </a:rPr>
              <a:t>Estimate = similarity-weighted average rise of the 3 most similar past meals. HUPA-UCM has no food names, so similarity mixes carbohydrate load (50%), time of day (25%) and starting glucose (25%).</a:t>
            </a:r>
          </a:p>
        </p:txBody>
      </p:sp>
    </p:spTree>
  </p:cSld>
  <p:clrMapOvr>
    <a:masterClrMapping/>
  </p:clrMapOvr>
  <p:transition spd="slow">
    <p:wip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ctr"/>
          <a:lstStyle/>
          <a:p>
            <a:r>
              <a:rPr lang="en-US">
                <a:effectLst>
                  <a:outerShdw blurRad="38100" dist="38100" dir="2700000" algn="tl">
                    <a:srgbClr val="000000">
                      <a:alpha val="43137"/>
                    </a:srgbClr>
                  </a:outerShdw>
                </a:effectLst>
              </a:rPr>
              <a:t>Dataset &amp; Evaluation</a:t>
            </a:r>
          </a:p>
        </p:txBody>
      </p:sp>
      <p:sp>
        <p:nvSpPr>
          <p:cNvPr id="3" name="Slide Number Placeholder 3"/>
          <p:cNvSpPr>
            <a:spLocks noGrp="1"/>
          </p:cNvSpPr>
          <p:nvPr>
            <p:ph type="sldNum" sz="quarter" idx="12"/>
          </p:nvPr>
        </p:nvSpPr>
        <p:spPr/>
        <p:txBody>
          <a:bodyPr/>
          <a:lstStyle/>
          <a:p>
            <a:fld id="{A0E71F06-E3F5-E242-AD46-023EB074373D}" type="slidenum">
              <a:rPr lang="x-none" smtClean="0"/>
              <a:t>14</a:t>
            </a:fld>
            <a:endParaRPr lang="x-none"/>
          </a:p>
        </p:txBody>
      </p:sp>
      <p:sp>
        <p:nvSpPr>
          <p:cNvPr id="4" name="Stat 1"/>
          <p:cNvSpPr/>
          <p:nvPr/>
        </p:nvSpPr>
        <p:spPr>
          <a:xfrm>
            <a:off x="1451152" y="2057400"/>
            <a:ext cx="3048914" cy="1371600"/>
          </a:xfrm>
          <a:prstGeom prst="roundRect">
            <a:avLst>
              <a:gd name="adj" fmla="val 6000"/>
            </a:avLst>
          </a:prstGeom>
          <a:solidFill>
            <a:schemeClr val="bg1"/>
          </a:solidFill>
          <a:ln w="9525">
            <a:solidFill>
              <a:srgbClr val="D5D0C8"/>
            </a:solidFill>
          </a:ln>
          <a:effectLst/>
        </p:spPr>
        <p:style>
          <a:lnRef idx="1">
            <a:schemeClr val="accent1"/>
          </a:lnRef>
          <a:fillRef idx="3">
            <a:schemeClr val="accent1"/>
          </a:fillRef>
          <a:effectRef idx="2">
            <a:schemeClr val="accent1"/>
          </a:effectRef>
          <a:fontRef idx="minor">
            <a:schemeClr val="lt1"/>
          </a:fontRef>
        </p:style>
        <p:txBody>
          <a:bodyPr wrap="square" lIns="201168" tIns="201168" rIns="201168" bIns="201168" rtlCol="0" anchor="ctr">
            <a:noAutofit/>
          </a:bodyPr>
          <a:lstStyle/>
          <a:p>
            <a:pPr algn="l">
              <a:lnSpc>
                <a:spcPct val="105000"/>
              </a:lnSpc>
              <a:spcAft>
                <a:spcPts val="0"/>
              </a:spcAft>
            </a:pPr>
            <a:r>
              <a:rPr sz="3600" b="1" i="0">
                <a:solidFill>
                  <a:schemeClr val="accent1"/>
                </a:solidFill>
              </a:rPr>
              <a:t>25 patients</a:t>
            </a:r>
          </a:p>
          <a:p>
            <a:pPr algn="l">
              <a:lnSpc>
                <a:spcPct val="105000"/>
              </a:lnSpc>
            </a:pPr>
            <a:r>
              <a:rPr sz="1400" b="0" i="0">
                <a:solidFill>
                  <a:schemeClr val="tx2"/>
                </a:solidFill>
              </a:rPr>
              <a:t>with type 1 diabetes (HUPA-UCM)</a:t>
            </a:r>
          </a:p>
        </p:txBody>
      </p:sp>
      <p:sp>
        <p:nvSpPr>
          <p:cNvPr id="5" name="Stat 2"/>
          <p:cNvSpPr/>
          <p:nvPr/>
        </p:nvSpPr>
        <p:spPr>
          <a:xfrm>
            <a:off x="4728667" y="2057400"/>
            <a:ext cx="3048914" cy="1371600"/>
          </a:xfrm>
          <a:prstGeom prst="roundRect">
            <a:avLst>
              <a:gd name="adj" fmla="val 6000"/>
            </a:avLst>
          </a:prstGeom>
          <a:solidFill>
            <a:schemeClr val="bg1"/>
          </a:solidFill>
          <a:ln w="9525">
            <a:solidFill>
              <a:srgbClr val="D5D0C8"/>
            </a:solidFill>
          </a:ln>
          <a:effectLst/>
        </p:spPr>
        <p:style>
          <a:lnRef idx="1">
            <a:schemeClr val="accent1"/>
          </a:lnRef>
          <a:fillRef idx="3">
            <a:schemeClr val="accent1"/>
          </a:fillRef>
          <a:effectRef idx="2">
            <a:schemeClr val="accent1"/>
          </a:effectRef>
          <a:fontRef idx="minor">
            <a:schemeClr val="lt1"/>
          </a:fontRef>
        </p:style>
        <p:txBody>
          <a:bodyPr wrap="square" lIns="201168" tIns="201168" rIns="201168" bIns="201168" rtlCol="0" anchor="ctr">
            <a:noAutofit/>
          </a:bodyPr>
          <a:lstStyle/>
          <a:p>
            <a:pPr algn="l">
              <a:lnSpc>
                <a:spcPct val="105000"/>
              </a:lnSpc>
              <a:spcAft>
                <a:spcPts val="0"/>
              </a:spcAft>
            </a:pPr>
            <a:r>
              <a:rPr sz="3600" b="1" i="0">
                <a:solidFill>
                  <a:schemeClr val="accent1"/>
                </a:solidFill>
              </a:rPr>
              <a:t>309,392</a:t>
            </a:r>
          </a:p>
          <a:p>
            <a:pPr algn="l">
              <a:lnSpc>
                <a:spcPct val="105000"/>
              </a:lnSpc>
            </a:pPr>
            <a:r>
              <a:rPr sz="1400" b="0" i="0">
                <a:solidFill>
                  <a:schemeClr val="tx2"/>
                </a:solidFill>
              </a:rPr>
              <a:t>readings, one every 5 minutes</a:t>
            </a:r>
          </a:p>
        </p:txBody>
      </p:sp>
      <p:sp>
        <p:nvSpPr>
          <p:cNvPr id="6" name="Stat 3"/>
          <p:cNvSpPr/>
          <p:nvPr/>
        </p:nvSpPr>
        <p:spPr>
          <a:xfrm>
            <a:off x="8006181" y="2057400"/>
            <a:ext cx="3048914" cy="1371600"/>
          </a:xfrm>
          <a:prstGeom prst="roundRect">
            <a:avLst>
              <a:gd name="adj" fmla="val 6000"/>
            </a:avLst>
          </a:prstGeom>
          <a:solidFill>
            <a:schemeClr val="bg1"/>
          </a:solidFill>
          <a:ln w="9525">
            <a:solidFill>
              <a:srgbClr val="D5D0C8"/>
            </a:solidFill>
          </a:ln>
          <a:effectLst/>
        </p:spPr>
        <p:style>
          <a:lnRef idx="1">
            <a:schemeClr val="accent1"/>
          </a:lnRef>
          <a:fillRef idx="3">
            <a:schemeClr val="accent1"/>
          </a:fillRef>
          <a:effectRef idx="2">
            <a:schemeClr val="accent1"/>
          </a:effectRef>
          <a:fontRef idx="minor">
            <a:schemeClr val="lt1"/>
          </a:fontRef>
        </p:style>
        <p:txBody>
          <a:bodyPr wrap="square" lIns="201168" tIns="201168" rIns="201168" bIns="201168" rtlCol="0" anchor="ctr">
            <a:noAutofit/>
          </a:bodyPr>
          <a:lstStyle/>
          <a:p>
            <a:pPr algn="l">
              <a:lnSpc>
                <a:spcPct val="105000"/>
              </a:lnSpc>
              <a:spcAft>
                <a:spcPts val="0"/>
              </a:spcAft>
            </a:pPr>
            <a:r>
              <a:rPr sz="3600" b="1" i="0">
                <a:solidFill>
                  <a:schemeClr val="accent1"/>
                </a:solidFill>
              </a:rPr>
              <a:t>2,181</a:t>
            </a:r>
          </a:p>
          <a:p>
            <a:pPr algn="l">
              <a:lnSpc>
                <a:spcPct val="105000"/>
              </a:lnSpc>
            </a:pPr>
            <a:r>
              <a:rPr sz="1400" b="0" i="0">
                <a:solidFill>
                  <a:schemeClr val="tx2"/>
                </a:solidFill>
              </a:rPr>
              <a:t>isolated meals with carbs and glucose</a:t>
            </a:r>
          </a:p>
        </p:txBody>
      </p:sp>
      <p:sp>
        <p:nvSpPr>
          <p:cNvPr id="7" name="Method"/>
          <p:cNvSpPr/>
          <p:nvPr/>
        </p:nvSpPr>
        <p:spPr>
          <a:xfrm>
            <a:off x="1451152" y="3657600"/>
            <a:ext cx="4687671" cy="2514600"/>
          </a:xfrm>
          <a:prstGeom prst="roundRect">
            <a:avLst>
              <a:gd name="adj" fmla="val 6000"/>
            </a:avLst>
          </a:prstGeom>
          <a:solidFill>
            <a:schemeClr val="bg1"/>
          </a:solidFill>
          <a:ln w="9525">
            <a:solidFill>
              <a:srgbClr val="D5D0C8"/>
            </a:solidFill>
          </a:ln>
          <a:effectLst/>
        </p:spPr>
        <p:style>
          <a:lnRef idx="1">
            <a:schemeClr val="accent1"/>
          </a:lnRef>
          <a:fillRef idx="3">
            <a:schemeClr val="accent1"/>
          </a:fillRef>
          <a:effectRef idx="2">
            <a:schemeClr val="accent1"/>
          </a:effectRef>
          <a:fontRef idx="minor">
            <a:schemeClr val="lt1"/>
          </a:fontRef>
        </p:style>
        <p:txBody>
          <a:bodyPr wrap="square" lIns="201168" tIns="201168" rIns="201168" bIns="201168" rtlCol="0" anchor="t">
            <a:noAutofit/>
          </a:bodyPr>
          <a:lstStyle/>
          <a:p>
            <a:pPr algn="l">
              <a:lnSpc>
                <a:spcPct val="105000"/>
              </a:lnSpc>
              <a:spcAft>
                <a:spcPts val="600"/>
              </a:spcAft>
            </a:pPr>
            <a:r>
              <a:rPr sz="2000" b="1" i="0">
                <a:solidFill>
                  <a:schemeClr val="accent1"/>
                </a:solidFill>
              </a:rPr>
              <a:t>Method</a:t>
            </a:r>
          </a:p>
          <a:p>
            <a:pPr marL="246888" indent="-246888" algn="l">
              <a:lnSpc>
                <a:spcPct val="105000"/>
              </a:lnSpc>
              <a:spcAft>
                <a:spcPts val="500"/>
              </a:spcAft>
              <a:buClr>
                <a:schemeClr val="accent1"/>
              </a:buClr>
              <a:buFont typeface="Arial"/>
              <a:buChar char="•"/>
            </a:pPr>
            <a:r>
              <a:rPr sz="1500" b="0" i="0">
                <a:solidFill>
                  <a:schemeClr val="tx2"/>
                </a:solidFill>
              </a:rPr>
              <a:t>Real FreeStyle Libre 2 data, insulin and carbs</a:t>
            </a:r>
          </a:p>
          <a:p>
            <a:pPr marL="246888" indent="-246888" algn="l">
              <a:lnSpc>
                <a:spcPct val="105000"/>
              </a:lnSpc>
              <a:spcAft>
                <a:spcPts val="500"/>
              </a:spcAft>
              <a:buClr>
                <a:schemeClr val="accent1"/>
              </a:buClr>
              <a:buFont typeface="Arial"/>
              <a:buChar char="•"/>
            </a:pPr>
            <a:r>
              <a:rPr sz="1500" b="0" i="0">
                <a:solidFill>
                  <a:schemeClr val="tx2"/>
                </a:solidFill>
              </a:rPr>
              <a:t>Per patient: learn on the first 70% of meals</a:t>
            </a:r>
          </a:p>
          <a:p>
            <a:pPr marL="246888" indent="-246888" algn="l">
              <a:lnSpc>
                <a:spcPct val="105000"/>
              </a:lnSpc>
              <a:buClr>
                <a:schemeClr val="accent1"/>
              </a:buClr>
              <a:buFont typeface="Arial"/>
              <a:buChar char="•"/>
            </a:pPr>
            <a:r>
              <a:rPr sz="1500" b="0" i="0">
                <a:solidFill>
                  <a:schemeClr val="tx2"/>
                </a:solidFill>
              </a:rPr>
              <a:t>Test on the last 30% (662 unseen meals, 22 patients)</a:t>
            </a:r>
          </a:p>
        </p:txBody>
      </p:sp>
      <p:sp>
        <p:nvSpPr>
          <p:cNvPr id="8" name="Predictors"/>
          <p:cNvSpPr/>
          <p:nvPr/>
        </p:nvSpPr>
        <p:spPr>
          <a:xfrm>
            <a:off x="6367424" y="3657600"/>
            <a:ext cx="4687671" cy="2514600"/>
          </a:xfrm>
          <a:prstGeom prst="roundRect">
            <a:avLst>
              <a:gd name="adj" fmla="val 6000"/>
            </a:avLst>
          </a:prstGeom>
          <a:solidFill>
            <a:schemeClr val="bg1"/>
          </a:solidFill>
          <a:ln w="9525">
            <a:solidFill>
              <a:srgbClr val="D5D0C8"/>
            </a:solidFill>
          </a:ln>
          <a:effectLst/>
        </p:spPr>
        <p:style>
          <a:lnRef idx="1">
            <a:schemeClr val="accent1"/>
          </a:lnRef>
          <a:fillRef idx="3">
            <a:schemeClr val="accent1"/>
          </a:fillRef>
          <a:effectRef idx="2">
            <a:schemeClr val="accent1"/>
          </a:effectRef>
          <a:fontRef idx="minor">
            <a:schemeClr val="lt1"/>
          </a:fontRef>
        </p:style>
        <p:txBody>
          <a:bodyPr wrap="square" lIns="201168" tIns="201168" rIns="201168" bIns="201168" rtlCol="0" anchor="t">
            <a:noAutofit/>
          </a:bodyPr>
          <a:lstStyle/>
          <a:p>
            <a:pPr algn="l">
              <a:lnSpc>
                <a:spcPct val="105000"/>
              </a:lnSpc>
              <a:spcAft>
                <a:spcPts val="600"/>
              </a:spcAft>
            </a:pPr>
            <a:r>
              <a:rPr sz="2000" b="1" i="0">
                <a:solidFill>
                  <a:schemeClr val="accent1"/>
                </a:solidFill>
              </a:rPr>
              <a:t>Predictors compared</a:t>
            </a:r>
          </a:p>
          <a:p>
            <a:pPr marL="246888" indent="-246888" algn="l">
              <a:lnSpc>
                <a:spcPct val="105000"/>
              </a:lnSpc>
              <a:spcAft>
                <a:spcPts val="500"/>
              </a:spcAft>
              <a:buClr>
                <a:schemeClr val="accent1"/>
              </a:buClr>
              <a:buFont typeface="Arial"/>
              <a:buChar char="•"/>
            </a:pPr>
            <a:r>
              <a:rPr sz="1500" b="0" i="0">
                <a:solidFill>
                  <a:schemeClr val="tx2"/>
                </a:solidFill>
              </a:rPr>
              <a:t>Personal: 3 most similar past meals</a:t>
            </a:r>
          </a:p>
          <a:p>
            <a:pPr marL="246888" indent="-246888" algn="l">
              <a:lnSpc>
                <a:spcPct val="105000"/>
              </a:lnSpc>
              <a:spcAft>
                <a:spcPts val="500"/>
              </a:spcAft>
              <a:buClr>
                <a:schemeClr val="accent1"/>
              </a:buClr>
              <a:buFont typeface="Arial"/>
              <a:buChar char="•"/>
            </a:pPr>
            <a:r>
              <a:rPr sz="1500" b="0" i="0">
                <a:solidFill>
                  <a:schemeClr val="tx2"/>
                </a:solidFill>
              </a:rPr>
              <a:t>Carb-count ratio: own average rise per gram</a:t>
            </a:r>
          </a:p>
          <a:p>
            <a:pPr marL="246888" indent="-246888" algn="l">
              <a:lnSpc>
                <a:spcPct val="105000"/>
              </a:lnSpc>
              <a:spcAft>
                <a:spcPts val="500"/>
              </a:spcAft>
              <a:buClr>
                <a:schemeClr val="accent1"/>
              </a:buClr>
              <a:buFont typeface="Arial"/>
              <a:buChar char="•"/>
            </a:pPr>
            <a:r>
              <a:rPr sz="1500" b="0" i="0">
                <a:solidFill>
                  <a:schemeClr val="tx2"/>
                </a:solidFill>
              </a:rPr>
              <a:t>Global average: same rise for every meal</a:t>
            </a:r>
          </a:p>
          <a:p>
            <a:pPr marL="246888" indent="-246888" algn="l">
              <a:lnSpc>
                <a:spcPct val="105000"/>
              </a:lnSpc>
              <a:buClr>
                <a:schemeClr val="accent1"/>
              </a:buClr>
              <a:buFont typeface="Arial"/>
              <a:buChar char="•"/>
            </a:pPr>
            <a:r>
              <a:rPr sz="1500" b="0" i="0">
                <a:solidFill>
                  <a:schemeClr val="tx2"/>
                </a:solidFill>
              </a:rPr>
              <a:t>Metric: mean absolute error of peak rise</a:t>
            </a:r>
          </a:p>
        </p:txBody>
      </p:sp>
    </p:spTree>
  </p:cSld>
  <p:clrMapOvr>
    <a:masterClrMapping/>
  </p:clrMapOvr>
  <p:transition spd="slow">
    <p:wip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ctr"/>
          <a:lstStyle/>
          <a:p>
            <a:r>
              <a:rPr lang="en-US">
                <a:effectLst>
                  <a:outerShdw blurRad="38100" dist="38100" dir="2700000" algn="tl">
                    <a:srgbClr val="000000">
                      <a:alpha val="43137"/>
                    </a:srgbClr>
                  </a:outerShdw>
                </a:effectLst>
              </a:rPr>
              <a:t>Model Application &amp; Results	(1/2)</a:t>
            </a:r>
          </a:p>
        </p:txBody>
      </p:sp>
      <p:sp>
        <p:nvSpPr>
          <p:cNvPr id="3" name="Slide Number Placeholder 3"/>
          <p:cNvSpPr>
            <a:spLocks noGrp="1"/>
          </p:cNvSpPr>
          <p:nvPr>
            <p:ph type="sldNum" sz="quarter" idx="12"/>
          </p:nvPr>
        </p:nvSpPr>
        <p:spPr/>
        <p:txBody>
          <a:bodyPr/>
          <a:lstStyle/>
          <a:p>
            <a:fld id="{A0E71F06-E3F5-E242-AD46-023EB074373D}" type="slidenum">
              <a:rPr lang="x-none" smtClean="0"/>
              <a:t>15</a:t>
            </a:fld>
            <a:endParaRPr lang="x-none"/>
          </a:p>
        </p:txBody>
      </p:sp>
      <p:sp>
        <p:nvSpPr>
          <p:cNvPr id="4" name="Chart caption"/>
          <p:cNvSpPr txBox="1"/>
          <p:nvPr/>
        </p:nvSpPr>
        <p:spPr>
          <a:xfrm>
            <a:off x="1451152" y="2011680"/>
            <a:ext cx="5577840" cy="365760"/>
          </a:xfrm>
          <a:prstGeom prst="rect">
            <a:avLst/>
          </a:prstGeom>
          <a:noFill/>
        </p:spPr>
        <p:txBody>
          <a:bodyPr wrap="square" lIns="0" tIns="0" rIns="0" bIns="0" anchor="t">
            <a:noAutofit/>
          </a:bodyPr>
          <a:lstStyle/>
          <a:p>
            <a:pPr algn="l">
              <a:lnSpc>
                <a:spcPct val="105000"/>
              </a:lnSpc>
            </a:pPr>
            <a:r>
              <a:rPr sz="1400" b="0" i="0">
                <a:solidFill>
                  <a:srgbClr val="5F5A54"/>
                </a:solidFill>
              </a:rPr>
              <a:t>Mean absolute error of predicted peak rise (mg/dL), average of 22 patients, lower is better</a:t>
            </a:r>
          </a:p>
        </p:txBody>
      </p:sp>
      <p:graphicFrame>
        <p:nvGraphicFramePr>
          <p:cNvPr id="5" name="MAE chart" descr="Bar chart of mean absolute error in mg/dL, average of 22 HUPA-UCM patients: personal model 36.4, carb-count ratio 37.5, global average 32.4."/>
          <p:cNvGraphicFramePr>
            <a:graphicFrameLocks noGrp="1"/>
          </p:cNvGraphicFramePr>
          <p:nvPr/>
        </p:nvGraphicFramePr>
        <p:xfrm>
          <a:off x="1451152" y="2423160"/>
          <a:ext cx="5577840" cy="3657600"/>
        </p:xfrm>
        <a:graphic>
          <a:graphicData uri="http://schemas.openxmlformats.org/drawingml/2006/chart">
            <c:chart xmlns:c="http://schemas.openxmlformats.org/drawingml/2006/chart" xmlns:r="http://schemas.openxmlformats.org/officeDocument/2006/relationships" r:id="rId3"/>
          </a:graphicData>
        </a:graphic>
      </p:graphicFrame>
      <p:sp>
        <p:nvSpPr>
          <p:cNvPr id="6" name="Gain 1"/>
          <p:cNvSpPr/>
          <p:nvPr/>
        </p:nvSpPr>
        <p:spPr>
          <a:xfrm>
            <a:off x="7303312" y="2057400"/>
            <a:ext cx="3751783" cy="1097280"/>
          </a:xfrm>
          <a:prstGeom prst="roundRect">
            <a:avLst>
              <a:gd name="adj" fmla="val 6000"/>
            </a:avLst>
          </a:prstGeom>
          <a:solidFill>
            <a:schemeClr val="bg1"/>
          </a:solidFill>
          <a:ln w="9525">
            <a:solidFill>
              <a:srgbClr val="D5D0C8"/>
            </a:solidFill>
          </a:ln>
          <a:effectLst/>
        </p:spPr>
        <p:style>
          <a:lnRef idx="1">
            <a:schemeClr val="accent1"/>
          </a:lnRef>
          <a:fillRef idx="3">
            <a:schemeClr val="accent1"/>
          </a:fillRef>
          <a:effectRef idx="2">
            <a:schemeClr val="accent1"/>
          </a:effectRef>
          <a:fontRef idx="minor">
            <a:schemeClr val="lt1"/>
          </a:fontRef>
        </p:style>
        <p:txBody>
          <a:bodyPr wrap="square" lIns="182880" tIns="182880" rIns="182880" bIns="182880" rtlCol="0" anchor="ctr">
            <a:noAutofit/>
          </a:bodyPr>
          <a:lstStyle/>
          <a:p>
            <a:pPr algn="l">
              <a:lnSpc>
                <a:spcPct val="105000"/>
              </a:lnSpc>
              <a:spcAft>
                <a:spcPts val="0"/>
              </a:spcAft>
            </a:pPr>
            <a:r>
              <a:rPr sz="3200" b="1" i="0">
                <a:solidFill>
                  <a:schemeClr val="accent1"/>
                </a:solidFill>
              </a:rPr>
              <a:t>5 of 22</a:t>
            </a:r>
          </a:p>
          <a:p>
            <a:pPr algn="l">
              <a:lnSpc>
                <a:spcPct val="105000"/>
              </a:lnSpc>
            </a:pPr>
            <a:r>
              <a:rPr sz="1400" b="0" i="0">
                <a:solidFill>
                  <a:schemeClr val="tx2"/>
                </a:solidFill>
              </a:rPr>
              <a:t>patients where the personal model had the lowest error</a:t>
            </a:r>
          </a:p>
        </p:txBody>
      </p:sp>
      <p:sp>
        <p:nvSpPr>
          <p:cNvPr id="7" name="Gain 2"/>
          <p:cNvSpPr/>
          <p:nvPr/>
        </p:nvSpPr>
        <p:spPr>
          <a:xfrm>
            <a:off x="7303312" y="3337560"/>
            <a:ext cx="3751783" cy="1097280"/>
          </a:xfrm>
          <a:prstGeom prst="roundRect">
            <a:avLst>
              <a:gd name="adj" fmla="val 6000"/>
            </a:avLst>
          </a:prstGeom>
          <a:solidFill>
            <a:schemeClr val="bg1"/>
          </a:solidFill>
          <a:ln w="9525">
            <a:solidFill>
              <a:srgbClr val="D5D0C8"/>
            </a:solidFill>
          </a:ln>
          <a:effectLst/>
        </p:spPr>
        <p:style>
          <a:lnRef idx="1">
            <a:schemeClr val="accent1"/>
          </a:lnRef>
          <a:fillRef idx="3">
            <a:schemeClr val="accent1"/>
          </a:fillRef>
          <a:effectRef idx="2">
            <a:schemeClr val="accent1"/>
          </a:effectRef>
          <a:fontRef idx="minor">
            <a:schemeClr val="lt1"/>
          </a:fontRef>
        </p:style>
        <p:txBody>
          <a:bodyPr wrap="square" lIns="182880" tIns="182880" rIns="182880" bIns="182880" rtlCol="0" anchor="ctr">
            <a:noAutofit/>
          </a:bodyPr>
          <a:lstStyle/>
          <a:p>
            <a:pPr algn="l">
              <a:lnSpc>
                <a:spcPct val="105000"/>
              </a:lnSpc>
              <a:spcAft>
                <a:spcPts val="0"/>
              </a:spcAft>
            </a:pPr>
            <a:r>
              <a:rPr sz="3200" b="1" i="0">
                <a:solidFill>
                  <a:schemeClr val="accent1"/>
                </a:solidFill>
              </a:rPr>
              <a:t>≈30 meals</a:t>
            </a:r>
          </a:p>
          <a:p>
            <a:pPr algn="l">
              <a:lnSpc>
                <a:spcPct val="105000"/>
              </a:lnSpc>
            </a:pPr>
            <a:r>
              <a:rPr sz="1400" b="0" i="0">
                <a:solidFill>
                  <a:schemeClr val="tx2"/>
                </a:solidFill>
              </a:rPr>
              <a:t>of history per patient in 2 weeks: too few to personalise</a:t>
            </a:r>
          </a:p>
        </p:txBody>
      </p:sp>
      <p:sp>
        <p:nvSpPr>
          <p:cNvPr id="8" name="Limitation"/>
          <p:cNvSpPr/>
          <p:nvPr/>
        </p:nvSpPr>
        <p:spPr>
          <a:xfrm>
            <a:off x="7303312" y="4617720"/>
            <a:ext cx="3751783" cy="1600200"/>
          </a:xfrm>
          <a:prstGeom prst="roundRect">
            <a:avLst>
              <a:gd name="adj" fmla="val 6000"/>
            </a:avLst>
          </a:prstGeom>
          <a:solidFill>
            <a:srgbClr val="F6E3E8"/>
          </a:solidFill>
          <a:ln>
            <a:noFill/>
          </a:ln>
          <a:effectLst/>
        </p:spPr>
        <p:style>
          <a:lnRef idx="1">
            <a:schemeClr val="accent1"/>
          </a:lnRef>
          <a:fillRef idx="3">
            <a:schemeClr val="accent1"/>
          </a:fillRef>
          <a:effectRef idx="2">
            <a:schemeClr val="accent1"/>
          </a:effectRef>
          <a:fontRef idx="minor">
            <a:schemeClr val="lt1"/>
          </a:fontRef>
        </p:style>
        <p:txBody>
          <a:bodyPr wrap="square" lIns="182880" tIns="182880" rIns="182880" bIns="182880" rtlCol="0" anchor="t">
            <a:noAutofit/>
          </a:bodyPr>
          <a:lstStyle/>
          <a:p>
            <a:pPr algn="l">
              <a:lnSpc>
                <a:spcPct val="105000"/>
              </a:lnSpc>
              <a:spcAft>
                <a:spcPts val="300"/>
              </a:spcAft>
            </a:pPr>
            <a:r>
              <a:rPr sz="1600" b="1" i="0">
                <a:solidFill>
                  <a:schemeClr val="accent1"/>
                </a:solidFill>
              </a:rPr>
              <a:t>Read with care</a:t>
            </a:r>
          </a:p>
          <a:p>
            <a:pPr algn="l">
              <a:lnSpc>
                <a:spcPct val="105000"/>
              </a:lnSpc>
            </a:pPr>
            <a:r>
              <a:rPr sz="1400" b="0" i="0">
                <a:solidFill>
                  <a:schemeClr val="tx2"/>
                </a:solidFill>
              </a:rPr>
              <a:t>Real data, first pass on 662 unseen meals. Weights fixed before testing, not tuned. Pooled over all meals: 29.9 vs 30.1.</a:t>
            </a:r>
          </a:p>
        </p:txBody>
      </p:sp>
    </p:spTree>
  </p:cSld>
  <p:clrMapOvr>
    <a:masterClrMapping/>
  </p:clrMapOvr>
  <p:transition spd="slow">
    <p:wip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ctr"/>
          <a:lstStyle/>
          <a:p>
            <a:r>
              <a:rPr lang="en-US">
                <a:effectLst>
                  <a:outerShdw blurRad="38100" dist="38100" dir="2700000" algn="tl">
                    <a:srgbClr val="000000">
                      <a:alpha val="43137"/>
                    </a:srgbClr>
                  </a:outerShdw>
                </a:effectLst>
              </a:rPr>
              <a:t>Conclusion</a:t>
            </a:r>
          </a:p>
        </p:txBody>
      </p:sp>
      <p:sp>
        <p:nvSpPr>
          <p:cNvPr id="3" name="Slide Number Placeholder 3"/>
          <p:cNvSpPr>
            <a:spLocks noGrp="1"/>
          </p:cNvSpPr>
          <p:nvPr>
            <p:ph type="sldNum" sz="quarter" idx="12"/>
          </p:nvPr>
        </p:nvSpPr>
        <p:spPr/>
        <p:txBody>
          <a:bodyPr/>
          <a:lstStyle/>
          <a:p>
            <a:fld id="{A0E71F06-E3F5-E242-AD46-023EB074373D}" type="slidenum">
              <a:rPr lang="x-none" smtClean="0"/>
              <a:t>17</a:t>
            </a:fld>
            <a:endParaRPr lang="x-none"/>
          </a:p>
        </p:txBody>
      </p:sp>
      <p:sp>
        <p:nvSpPr>
          <p:cNvPr id="4" name="Point 1"/>
          <p:cNvSpPr/>
          <p:nvPr/>
        </p:nvSpPr>
        <p:spPr>
          <a:xfrm>
            <a:off x="1451152" y="2057400"/>
            <a:ext cx="9603943" cy="868680"/>
          </a:xfrm>
          <a:prstGeom prst="roundRect">
            <a:avLst>
              <a:gd name="adj" fmla="val 6000"/>
            </a:avLst>
          </a:prstGeom>
          <a:solidFill>
            <a:schemeClr val="bg1"/>
          </a:solidFill>
          <a:ln w="9525">
            <a:solidFill>
              <a:srgbClr val="D5D0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Badge 1"/>
          <p:cNvSpPr/>
          <p:nvPr/>
        </p:nvSpPr>
        <p:spPr>
          <a:xfrm>
            <a:off x="1679752" y="2240280"/>
            <a:ext cx="502920" cy="502920"/>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lnSpc>
                <a:spcPct val="105000"/>
              </a:lnSpc>
            </a:pPr>
            <a:r>
              <a:rPr sz="1600" b="1" i="0">
                <a:solidFill>
                  <a:schemeClr val="bg1"/>
                </a:solidFill>
              </a:rPr>
              <a:t>1</a:t>
            </a:r>
          </a:p>
        </p:txBody>
      </p:sp>
      <p:sp>
        <p:nvSpPr>
          <p:cNvPr id="6" name="Point 1 text"/>
          <p:cNvSpPr txBox="1"/>
          <p:nvPr/>
        </p:nvSpPr>
        <p:spPr>
          <a:xfrm>
            <a:off x="2411272" y="2103120"/>
            <a:ext cx="8415223" cy="777240"/>
          </a:xfrm>
          <a:prstGeom prst="rect">
            <a:avLst/>
          </a:prstGeom>
          <a:noFill/>
        </p:spPr>
        <p:txBody>
          <a:bodyPr wrap="square" lIns="0" tIns="0" rIns="0" bIns="0" anchor="ctr">
            <a:noAutofit/>
          </a:bodyPr>
          <a:lstStyle/>
          <a:p>
            <a:pPr algn="l">
              <a:lnSpc>
                <a:spcPct val="105000"/>
              </a:lnSpc>
            </a:pPr>
            <a:r>
              <a:rPr sz="1800" b="0" i="0">
                <a:solidFill>
                  <a:schemeClr val="tx2"/>
                </a:solidFill>
              </a:rPr>
              <a:t>The safety rules and the escalation chain work and are covered by 30 passing tests.</a:t>
            </a:r>
          </a:p>
        </p:txBody>
      </p:sp>
      <p:sp>
        <p:nvSpPr>
          <p:cNvPr id="7" name="Point 2"/>
          <p:cNvSpPr/>
          <p:nvPr/>
        </p:nvSpPr>
        <p:spPr>
          <a:xfrm>
            <a:off x="1451152" y="3081528"/>
            <a:ext cx="9603943" cy="868680"/>
          </a:xfrm>
          <a:prstGeom prst="roundRect">
            <a:avLst>
              <a:gd name="adj" fmla="val 6000"/>
            </a:avLst>
          </a:prstGeom>
          <a:solidFill>
            <a:schemeClr val="bg1"/>
          </a:solidFill>
          <a:ln w="9525">
            <a:solidFill>
              <a:srgbClr val="D5D0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Badge 2"/>
          <p:cNvSpPr/>
          <p:nvPr/>
        </p:nvSpPr>
        <p:spPr>
          <a:xfrm>
            <a:off x="1679752" y="3264408"/>
            <a:ext cx="502920" cy="502920"/>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lnSpc>
                <a:spcPct val="105000"/>
              </a:lnSpc>
            </a:pPr>
            <a:r>
              <a:rPr sz="1600" b="1" i="0">
                <a:solidFill>
                  <a:schemeClr val="bg1"/>
                </a:solidFill>
              </a:rPr>
              <a:t>2</a:t>
            </a:r>
          </a:p>
        </p:txBody>
      </p:sp>
      <p:sp>
        <p:nvSpPr>
          <p:cNvPr id="9" name="Point 2 text"/>
          <p:cNvSpPr txBox="1"/>
          <p:nvPr/>
        </p:nvSpPr>
        <p:spPr>
          <a:xfrm>
            <a:off x="2411272" y="3127248"/>
            <a:ext cx="8415223" cy="777240"/>
          </a:xfrm>
          <a:prstGeom prst="rect">
            <a:avLst/>
          </a:prstGeom>
          <a:noFill/>
        </p:spPr>
        <p:txBody>
          <a:bodyPr wrap="square" lIns="0" tIns="0" rIns="0" bIns="0" anchor="ctr">
            <a:noAutofit/>
          </a:bodyPr>
          <a:lstStyle/>
          <a:p>
            <a:pPr algn="l">
              <a:lnSpc>
                <a:spcPct val="105000"/>
              </a:lnSpc>
            </a:pPr>
            <a:r>
              <a:rPr sz="1800" b="0" i="0">
                <a:solidFill>
                  <a:schemeClr val="tx2"/>
                </a:solidFill>
              </a:rPr>
              <a:t>On real data with about 2 weeks per patient, a global average beat the personal model: 32.4 vs 36.4 mg/dL.</a:t>
            </a:r>
          </a:p>
        </p:txBody>
      </p:sp>
      <p:sp>
        <p:nvSpPr>
          <p:cNvPr id="10" name="Point 3"/>
          <p:cNvSpPr/>
          <p:nvPr/>
        </p:nvSpPr>
        <p:spPr>
          <a:xfrm>
            <a:off x="1451152" y="4105656"/>
            <a:ext cx="9603943" cy="868680"/>
          </a:xfrm>
          <a:prstGeom prst="roundRect">
            <a:avLst>
              <a:gd name="adj" fmla="val 6000"/>
            </a:avLst>
          </a:prstGeom>
          <a:solidFill>
            <a:schemeClr val="bg1"/>
          </a:solidFill>
          <a:ln w="9525">
            <a:solidFill>
              <a:srgbClr val="D5D0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Badge 3"/>
          <p:cNvSpPr/>
          <p:nvPr/>
        </p:nvSpPr>
        <p:spPr>
          <a:xfrm>
            <a:off x="1679752" y="4288536"/>
            <a:ext cx="502920" cy="502920"/>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lnSpc>
                <a:spcPct val="105000"/>
              </a:lnSpc>
            </a:pPr>
            <a:r>
              <a:rPr sz="1600" b="1" i="0">
                <a:solidFill>
                  <a:schemeClr val="bg1"/>
                </a:solidFill>
              </a:rPr>
              <a:t>3</a:t>
            </a:r>
          </a:p>
        </p:txBody>
      </p:sp>
      <p:sp>
        <p:nvSpPr>
          <p:cNvPr id="12" name="Point 3 text"/>
          <p:cNvSpPr txBox="1"/>
          <p:nvPr/>
        </p:nvSpPr>
        <p:spPr>
          <a:xfrm>
            <a:off x="2411272" y="4151376"/>
            <a:ext cx="8415223" cy="777240"/>
          </a:xfrm>
          <a:prstGeom prst="rect">
            <a:avLst/>
          </a:prstGeom>
          <a:noFill/>
        </p:spPr>
        <p:txBody>
          <a:bodyPr wrap="square" lIns="0" tIns="0" rIns="0" bIns="0" anchor="ctr">
            <a:noAutofit/>
          </a:bodyPr>
          <a:lstStyle/>
          <a:p>
            <a:pPr algn="l">
              <a:lnSpc>
                <a:spcPct val="105000"/>
              </a:lnSpc>
            </a:pPr>
            <a:r>
              <a:rPr sz="1800" b="0" i="0">
                <a:solidFill>
                  <a:schemeClr val="tx2"/>
                </a:solidFill>
              </a:rPr>
              <a:t>With months of history it wins: for patient 28 error fell to 20.9 mg/dL, 23% below the global average.</a:t>
            </a:r>
          </a:p>
        </p:txBody>
      </p:sp>
      <p:sp>
        <p:nvSpPr>
          <p:cNvPr id="13" name="Point 4"/>
          <p:cNvSpPr/>
          <p:nvPr/>
        </p:nvSpPr>
        <p:spPr>
          <a:xfrm>
            <a:off x="1451152" y="5129784"/>
            <a:ext cx="9603943" cy="868680"/>
          </a:xfrm>
          <a:prstGeom prst="roundRect">
            <a:avLst>
              <a:gd name="adj" fmla="val 6000"/>
            </a:avLst>
          </a:prstGeom>
          <a:solidFill>
            <a:schemeClr val="bg1"/>
          </a:solidFill>
          <a:ln w="9525">
            <a:solidFill>
              <a:srgbClr val="D5D0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Badge 4"/>
          <p:cNvSpPr/>
          <p:nvPr/>
        </p:nvSpPr>
        <p:spPr>
          <a:xfrm>
            <a:off x="1679752" y="5312664"/>
            <a:ext cx="502920" cy="502920"/>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lnSpc>
                <a:spcPct val="105000"/>
              </a:lnSpc>
            </a:pPr>
            <a:r>
              <a:rPr sz="1600" b="1" i="0">
                <a:solidFill>
                  <a:schemeClr val="bg1"/>
                </a:solidFill>
              </a:rPr>
              <a:t>4</a:t>
            </a:r>
          </a:p>
        </p:txBody>
      </p:sp>
      <p:sp>
        <p:nvSpPr>
          <p:cNvPr id="15" name="Point 4 text"/>
          <p:cNvSpPr txBox="1"/>
          <p:nvPr/>
        </p:nvSpPr>
        <p:spPr>
          <a:xfrm>
            <a:off x="2411272" y="5175504"/>
            <a:ext cx="8415223" cy="777240"/>
          </a:xfrm>
          <a:prstGeom prst="rect">
            <a:avLst/>
          </a:prstGeom>
          <a:noFill/>
        </p:spPr>
        <p:txBody>
          <a:bodyPr wrap="square" lIns="0" tIns="0" rIns="0" bIns="0" anchor="ctr">
            <a:noAutofit/>
          </a:bodyPr>
          <a:lstStyle/>
          <a:p>
            <a:pPr algn="l">
              <a:lnSpc>
                <a:spcPct val="105000"/>
              </a:lnSpc>
            </a:pPr>
            <a:r>
              <a:rPr sz="1800" b="0" i="0">
                <a:solidFill>
                  <a:schemeClr val="tx2"/>
                </a:solidFill>
              </a:rPr>
              <a:t>Limits: first-pass analysis, long history for only 2 patients, no clinical claim. Next: blended estimates and clinician review.</a:t>
            </a:r>
          </a:p>
        </p:txBody>
      </p:sp>
    </p:spTree>
  </p:cSld>
  <p:clrMapOvr>
    <a:masterClrMapping/>
  </p:clrMapOvr>
  <p:transition spd="slow">
    <p:wip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ctr"/>
          <a:lstStyle/>
          <a:p>
            <a:r>
              <a:rPr lang="en-US">
                <a:effectLst>
                  <a:outerShdw blurRad="38100" dist="38100" dir="2700000" algn="tl">
                    <a:srgbClr val="000000">
                      <a:alpha val="43137"/>
                    </a:srgbClr>
                  </a:outerShdw>
                </a:effectLst>
              </a:rPr>
              <a:t>Future Work</a:t>
            </a:r>
          </a:p>
        </p:txBody>
      </p:sp>
      <p:sp>
        <p:nvSpPr>
          <p:cNvPr id="3" name="Slide Number Placeholder 3"/>
          <p:cNvSpPr>
            <a:spLocks noGrp="1"/>
          </p:cNvSpPr>
          <p:nvPr>
            <p:ph type="sldNum" sz="quarter" idx="12"/>
          </p:nvPr>
        </p:nvSpPr>
        <p:spPr/>
        <p:txBody>
          <a:bodyPr/>
          <a:lstStyle/>
          <a:p>
            <a:fld id="{A0E71F06-E3F5-E242-AD46-023EB074373D}" type="slidenum">
              <a:rPr lang="x-none" smtClean="0"/>
              <a:t>18</a:t>
            </a:fld>
            <a:endParaRPr lang="x-none"/>
          </a:p>
        </p:txBody>
      </p:sp>
      <p:graphicFrame>
        <p:nvGraphicFramePr>
          <p:cNvPr id="4" name="Plan"/>
          <p:cNvGraphicFramePr>
            <a:graphicFrameLocks noGrp="1"/>
          </p:cNvGraphicFramePr>
          <p:nvPr/>
        </p:nvGraphicFramePr>
        <p:xfrm>
          <a:off x="1451152" y="2057400"/>
          <a:ext cx="9603943" cy="3310128"/>
        </p:xfrm>
        <a:graphic>
          <a:graphicData uri="http://schemas.openxmlformats.org/drawingml/2006/table">
            <a:tbl>
              <a:tblPr firstRow="1" bandRow="1">
                <a:tableStyleId>{5C22544A-7EE6-4342-B048-85BDC9FD1C3A}</a:tableStyleId>
              </a:tblPr>
              <a:tblGrid>
                <a:gridCol w="1371600">
                  <a:extLst>
                    <a:ext uri="{9D8B030D-6E8A-4147-A177-3AD203B41FA5}">
                      <a16:colId xmlns:a16="http://schemas.microsoft.com/office/drawing/2014/main" val="20000"/>
                    </a:ext>
                  </a:extLst>
                </a:gridCol>
                <a:gridCol w="8232343">
                  <a:extLst>
                    <a:ext uri="{9D8B030D-6E8A-4147-A177-3AD203B41FA5}">
                      <a16:colId xmlns:a16="http://schemas.microsoft.com/office/drawing/2014/main" val="20001"/>
                    </a:ext>
                  </a:extLst>
                </a:gridCol>
              </a:tblGrid>
              <a:tr h="457200">
                <a:tc>
                  <a:txBody>
                    <a:bodyPr/>
                    <a:lstStyle/>
                    <a:p>
                      <a:r>
                        <a:rPr sz="1500" b="1">
                          <a:solidFill>
                            <a:schemeClr val="bg1"/>
                          </a:solidFill>
                        </a:rPr>
                        <a:t>Weeks</a:t>
                      </a:r>
                    </a:p>
                  </a:txBody>
                  <a:tcPr marL="109728" marR="109728" anchor="ctr">
                    <a:solidFill>
                      <a:schemeClr val="accent1"/>
                    </a:solidFill>
                  </a:tcPr>
                </a:tc>
                <a:tc>
                  <a:txBody>
                    <a:bodyPr/>
                    <a:lstStyle/>
                    <a:p>
                      <a:r>
                        <a:rPr sz="1500" b="1">
                          <a:solidFill>
                            <a:schemeClr val="bg1"/>
                          </a:solidFill>
                        </a:rPr>
                        <a:t>Deliverable</a:t>
                      </a:r>
                    </a:p>
                  </a:txBody>
                  <a:tcPr marL="109728" marR="109728" anchor="ctr">
                    <a:solidFill>
                      <a:schemeClr val="accent1"/>
                    </a:solidFill>
                  </a:tcPr>
                </a:tc>
                <a:extLst>
                  <a:ext uri="{0D108BD9-81ED-4DB2-BD59-A6C34878D82A}">
                    <a16:rowId xmlns:a16="http://schemas.microsoft.com/office/drawing/2014/main" val="10000"/>
                  </a:ext>
                </a:extLst>
              </a:tr>
              <a:tr h="475488">
                <a:tc>
                  <a:txBody>
                    <a:bodyPr/>
                    <a:lstStyle/>
                    <a:p>
                      <a:r>
                        <a:rPr sz="1500" b="0">
                          <a:solidFill>
                            <a:schemeClr val="tx2"/>
                          </a:solidFill>
                        </a:rPr>
                        <a:t>1 to 2</a:t>
                      </a:r>
                    </a:p>
                  </a:txBody>
                  <a:tcPr marL="109728" marR="109728" anchor="ctr">
                    <a:solidFill>
                      <a:schemeClr val="bg1"/>
                    </a:solidFill>
                  </a:tcPr>
                </a:tc>
                <a:tc>
                  <a:txBody>
                    <a:bodyPr/>
                    <a:lstStyle/>
                    <a:p>
                      <a:r>
                        <a:rPr sz="1500" b="0">
                          <a:solidFill>
                            <a:schemeClr val="tx2"/>
                          </a:solidFill>
                        </a:rPr>
                        <a:t>App skeleton, Firebase Auth, onboarding, data model, HUPA-UCM import</a:t>
                      </a:r>
                    </a:p>
                  </a:txBody>
                  <a:tcPr marL="109728" marR="109728" anchor="ctr">
                    <a:solidFill>
                      <a:schemeClr val="bg1"/>
                    </a:solidFill>
                  </a:tcPr>
                </a:tc>
                <a:extLst>
                  <a:ext uri="{0D108BD9-81ED-4DB2-BD59-A6C34878D82A}">
                    <a16:rowId xmlns:a16="http://schemas.microsoft.com/office/drawing/2014/main" val="10001"/>
                  </a:ext>
                </a:extLst>
              </a:tr>
              <a:tr h="475488">
                <a:tc>
                  <a:txBody>
                    <a:bodyPr/>
                    <a:lstStyle/>
                    <a:p>
                      <a:r>
                        <a:rPr sz="1500" b="0">
                          <a:solidFill>
                            <a:schemeClr val="tx2"/>
                          </a:solidFill>
                        </a:rPr>
                        <a:t>3 to 4</a:t>
                      </a:r>
                    </a:p>
                  </a:txBody>
                  <a:tcPr marL="109728" marR="109728" anchor="ctr">
                    <a:solidFill>
                      <a:srgbClr val="F3F0EB"/>
                    </a:solidFill>
                  </a:tcPr>
                </a:tc>
                <a:tc>
                  <a:txBody>
                    <a:bodyPr/>
                    <a:lstStyle/>
                    <a:p>
                      <a:r>
                        <a:rPr sz="1500" b="0">
                          <a:solidFill>
                            <a:schemeClr val="tx2"/>
                          </a:solidFill>
                        </a:rPr>
                        <a:t>Dashboard, charts, logging screens</a:t>
                      </a:r>
                    </a:p>
                  </a:txBody>
                  <a:tcPr marL="109728" marR="109728" anchor="ctr">
                    <a:solidFill>
                      <a:srgbClr val="F3F0EB"/>
                    </a:solidFill>
                  </a:tcPr>
                </a:tc>
                <a:extLst>
                  <a:ext uri="{0D108BD9-81ED-4DB2-BD59-A6C34878D82A}">
                    <a16:rowId xmlns:a16="http://schemas.microsoft.com/office/drawing/2014/main" val="10002"/>
                  </a:ext>
                </a:extLst>
              </a:tr>
              <a:tr h="475488">
                <a:tc>
                  <a:txBody>
                    <a:bodyPr/>
                    <a:lstStyle/>
                    <a:p>
                      <a:r>
                        <a:rPr sz="1500" b="0">
                          <a:solidFill>
                            <a:schemeClr val="tx2"/>
                          </a:solidFill>
                        </a:rPr>
                        <a:t>5 to 6</a:t>
                      </a:r>
                    </a:p>
                  </a:txBody>
                  <a:tcPr marL="109728" marR="109728" anchor="ctr">
                    <a:solidFill>
                      <a:schemeClr val="bg1"/>
                    </a:solidFill>
                  </a:tcPr>
                </a:tc>
                <a:tc>
                  <a:txBody>
                    <a:bodyPr/>
                    <a:lstStyle/>
                    <a:p>
                      <a:r>
                        <a:rPr sz="1500" b="0">
                          <a:solidFill>
                            <a:schemeClr val="tx2"/>
                          </a:solidFill>
                        </a:rPr>
                        <a:t>Safety engine and alert screens, unit tests for every rule</a:t>
                      </a:r>
                    </a:p>
                  </a:txBody>
                  <a:tcPr marL="109728" marR="109728" anchor="ctr">
                    <a:solidFill>
                      <a:schemeClr val="bg1"/>
                    </a:solidFill>
                  </a:tcPr>
                </a:tc>
                <a:extLst>
                  <a:ext uri="{0D108BD9-81ED-4DB2-BD59-A6C34878D82A}">
                    <a16:rowId xmlns:a16="http://schemas.microsoft.com/office/drawing/2014/main" val="10003"/>
                  </a:ext>
                </a:extLst>
              </a:tr>
              <a:tr h="475488">
                <a:tc>
                  <a:txBody>
                    <a:bodyPr/>
                    <a:lstStyle/>
                    <a:p>
                      <a:r>
                        <a:rPr sz="1500" b="0">
                          <a:solidFill>
                            <a:schemeClr val="tx2"/>
                          </a:solidFill>
                        </a:rPr>
                        <a:t>7 to 8</a:t>
                      </a:r>
                    </a:p>
                  </a:txBody>
                  <a:tcPr marL="109728" marR="109728" anchor="ctr">
                    <a:solidFill>
                      <a:srgbClr val="F3F0EB"/>
                    </a:solidFill>
                  </a:tcPr>
                </a:tc>
                <a:tc>
                  <a:txBody>
                    <a:bodyPr/>
                    <a:lstStyle/>
                    <a:p>
                      <a:r>
                        <a:rPr sz="1500" b="0">
                          <a:solidFill>
                            <a:schemeClr val="tx2"/>
                          </a:solidFill>
                        </a:rPr>
                        <a:t>Support Circle, escalation functions, "I'm Not Okay"</a:t>
                      </a:r>
                    </a:p>
                  </a:txBody>
                  <a:tcPr marL="109728" marR="109728" anchor="ctr">
                    <a:solidFill>
                      <a:srgbClr val="F3F0EB"/>
                    </a:solidFill>
                  </a:tcPr>
                </a:tc>
                <a:extLst>
                  <a:ext uri="{0D108BD9-81ED-4DB2-BD59-A6C34878D82A}">
                    <a16:rowId xmlns:a16="http://schemas.microsoft.com/office/drawing/2014/main" val="10004"/>
                  </a:ext>
                </a:extLst>
              </a:tr>
              <a:tr h="475488">
                <a:tc>
                  <a:txBody>
                    <a:bodyPr/>
                    <a:lstStyle/>
                    <a:p>
                      <a:r>
                        <a:rPr sz="1500" b="0">
                          <a:solidFill>
                            <a:schemeClr val="tx2"/>
                          </a:solidFill>
                        </a:rPr>
                        <a:t>9 to 10</a:t>
                      </a:r>
                    </a:p>
                  </a:txBody>
                  <a:tcPr marL="109728" marR="109728" anchor="ctr">
                    <a:solidFill>
                      <a:schemeClr val="bg1"/>
                    </a:solidFill>
                  </a:tcPr>
                </a:tc>
                <a:tc>
                  <a:txBody>
                    <a:bodyPr/>
                    <a:lstStyle/>
                    <a:p>
                      <a:r>
                        <a:rPr sz="1500" b="0">
                          <a:solidFill>
                            <a:schemeClr val="tx2"/>
                          </a:solidFill>
                        </a:rPr>
                        <a:t>Food-response engine, ICR/ISF tool: demo-ready build</a:t>
                      </a:r>
                    </a:p>
                  </a:txBody>
                  <a:tcPr marL="109728" marR="109728" anchor="ctr">
                    <a:solidFill>
                      <a:schemeClr val="bg1"/>
                    </a:solidFill>
                  </a:tcPr>
                </a:tc>
                <a:extLst>
                  <a:ext uri="{0D108BD9-81ED-4DB2-BD59-A6C34878D82A}">
                    <a16:rowId xmlns:a16="http://schemas.microsoft.com/office/drawing/2014/main" val="10005"/>
                  </a:ext>
                </a:extLst>
              </a:tr>
              <a:tr h="475488">
                <a:tc>
                  <a:txBody>
                    <a:bodyPr/>
                    <a:lstStyle/>
                    <a:p>
                      <a:r>
                        <a:rPr sz="1500" b="0">
                          <a:solidFill>
                            <a:schemeClr val="tx2"/>
                          </a:solidFill>
                        </a:rPr>
                        <a:t>11 to 12</a:t>
                      </a:r>
                    </a:p>
                  </a:txBody>
                  <a:tcPr marL="109728" marR="109728" anchor="ctr">
                    <a:solidFill>
                      <a:srgbClr val="F3F0EB"/>
                    </a:solidFill>
                  </a:tcPr>
                </a:tc>
                <a:tc>
                  <a:txBody>
                    <a:bodyPr/>
                    <a:lstStyle/>
                    <a:p>
                      <a:r>
                        <a:rPr sz="1500" b="0">
                          <a:solidFill>
                            <a:schemeClr val="tx2"/>
                          </a:solidFill>
                        </a:rPr>
                        <a:t>Polish, user testing, thesis writing, buffer</a:t>
                      </a:r>
                    </a:p>
                  </a:txBody>
                  <a:tcPr marL="109728" marR="109728" anchor="ctr">
                    <a:solidFill>
                      <a:srgbClr val="F3F0EB"/>
                    </a:solidFill>
                  </a:tcPr>
                </a:tc>
                <a:extLst>
                  <a:ext uri="{0D108BD9-81ED-4DB2-BD59-A6C34878D82A}">
                    <a16:rowId xmlns:a16="http://schemas.microsoft.com/office/drawing/2014/main" val="10006"/>
                  </a:ext>
                </a:extLst>
              </a:tr>
            </a:tbl>
          </a:graphicData>
        </a:graphic>
      </p:graphicFrame>
      <p:sp>
        <p:nvSpPr>
          <p:cNvPr id="5" name="Later"/>
          <p:cNvSpPr txBox="1"/>
          <p:nvPr/>
        </p:nvSpPr>
        <p:spPr>
          <a:xfrm>
            <a:off x="1451152" y="5486400"/>
            <a:ext cx="9603943" cy="731520"/>
          </a:xfrm>
          <a:prstGeom prst="rect">
            <a:avLst/>
          </a:prstGeom>
          <a:noFill/>
        </p:spPr>
        <p:txBody>
          <a:bodyPr wrap="square" lIns="0" tIns="0" rIns="0" bIns="0" anchor="t">
            <a:noAutofit/>
          </a:bodyPr>
          <a:lstStyle/>
          <a:p>
            <a:pPr algn="l">
              <a:lnSpc>
                <a:spcPct val="105000"/>
              </a:lnSpc>
            </a:pPr>
            <a:r>
              <a:rPr sz="1400" b="0" i="0">
                <a:solidFill>
                  <a:srgbClr val="5F5A54"/>
                </a:solidFill>
              </a:rPr>
              <a:t>Later: Tier 2 (meal-response prediction, What-If simulator, real CGM integration) and Tier 3 (AI assistant, Libre integration, full learning loop).</a:t>
            </a:r>
          </a:p>
        </p:txBody>
      </p:sp>
    </p:spTree>
  </p:cSld>
  <p:clrMapOvr>
    <a:masterClrMapping/>
  </p:clrMapOvr>
  <p:transition spd="slow">
    <p:wip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ctr"/>
          <a:lstStyle/>
          <a:p>
            <a:r>
              <a:rPr lang="en-US">
                <a:effectLst>
                  <a:outerShdw blurRad="38100" dist="38100" dir="2700000" algn="tl">
                    <a:srgbClr val="000000">
                      <a:alpha val="43137"/>
                    </a:srgbClr>
                  </a:outerShdw>
                </a:effectLst>
              </a:rPr>
              <a:t>References</a:t>
            </a:r>
          </a:p>
        </p:txBody>
      </p:sp>
      <p:sp>
        <p:nvSpPr>
          <p:cNvPr id="3" name="Slide Number Placeholder 3"/>
          <p:cNvSpPr>
            <a:spLocks noGrp="1"/>
          </p:cNvSpPr>
          <p:nvPr>
            <p:ph type="sldNum" sz="quarter" idx="12"/>
          </p:nvPr>
        </p:nvSpPr>
        <p:spPr/>
        <p:txBody>
          <a:bodyPr/>
          <a:lstStyle/>
          <a:p>
            <a:fld id="{A0E71F06-E3F5-E242-AD46-023EB074373D}" type="slidenum">
              <a:rPr lang="x-none" smtClean="0"/>
              <a:t>19</a:t>
            </a:fld>
            <a:endParaRPr lang="x-none"/>
          </a:p>
        </p:txBody>
      </p:sp>
      <p:sp>
        <p:nvSpPr>
          <p:cNvPr id="4" name="Reference list"/>
          <p:cNvSpPr txBox="1"/>
          <p:nvPr/>
        </p:nvSpPr>
        <p:spPr>
          <a:xfrm>
            <a:off x="1451152" y="2057400"/>
            <a:ext cx="9603943" cy="4023360"/>
          </a:xfrm>
          <a:prstGeom prst="rect">
            <a:avLst/>
          </a:prstGeom>
          <a:noFill/>
        </p:spPr>
        <p:txBody>
          <a:bodyPr wrap="square" lIns="0" tIns="0" rIns="0" bIns="0" anchor="t">
            <a:noAutofit/>
          </a:bodyPr>
          <a:lstStyle/>
          <a:p>
            <a:pPr algn="l">
              <a:lnSpc>
                <a:spcPct val="105000"/>
              </a:lnSpc>
              <a:spcAft>
                <a:spcPts val="1400"/>
              </a:spcAft>
            </a:pPr>
            <a:r>
              <a:rPr sz="1500" b="0" i="0">
                <a:solidFill>
                  <a:schemeClr val="tx2"/>
                </a:solidFill>
              </a:rPr>
              <a:t>[1] T. Battelino et al., "Clinical targets for continuous glucose monitoring data interpretation: recommendations from the international consensus on time in range," Diabetes Care, vol. 42, no. 8, pp. 1593-1603, 2019.</a:t>
            </a:r>
          </a:p>
          <a:p>
            <a:pPr algn="l">
              <a:lnSpc>
                <a:spcPct val="105000"/>
              </a:lnSpc>
              <a:spcAft>
                <a:spcPts val="1400"/>
              </a:spcAft>
            </a:pPr>
            <a:r>
              <a:rPr sz="1500" b="0" i="0">
                <a:solidFill>
                  <a:schemeClr val="tx2"/>
                </a:solidFill>
              </a:rPr>
              <a:t>[2] W. L. Clarke, D. Cox, L. A. Gonder-Frederick, W. Carter, and S. L. Pohl, "Evaluating clinical accuracy of systems for self-monitoring of blood glucose," Diabetes Care, vol. 10, no. 5, pp. 622-628, 1987.</a:t>
            </a:r>
          </a:p>
          <a:p>
            <a:pPr algn="l">
              <a:lnSpc>
                <a:spcPct val="105000"/>
              </a:lnSpc>
              <a:spcAft>
                <a:spcPts val="1400"/>
              </a:spcAft>
            </a:pPr>
            <a:r>
              <a:rPr sz="1500" b="0" i="0">
                <a:solidFill>
                  <a:schemeClr val="tx2"/>
                </a:solidFill>
              </a:rPr>
              <a:t>[3] Arab Republic of Egypt, Personal Data Protection Law, Law No. 151 of 2020.</a:t>
            </a:r>
          </a:p>
          <a:p>
            <a:pPr algn="l">
              <a:lnSpc>
                <a:spcPct val="105000"/>
              </a:lnSpc>
            </a:pPr>
            <a:r>
              <a:rPr sz="1500" b="0" i="0">
                <a:solidFill>
                  <a:schemeClr val="tx2"/>
                </a:solidFill>
              </a:rPr>
              <a:t>[4] J. I. Hidalgo, J. Alvarado, M. Botella, A. Aramendi, J. M. Velasco, and O. Garnica, "HUPA-UCM diabetes dataset," Mendeley Data, V1, 2024, doi: 10.17632/3hbcscwz44.1.</a:t>
            </a:r>
          </a:p>
        </p:txBody>
      </p:sp>
    </p:spTree>
  </p:cSld>
  <p:clrMapOvr>
    <a:masterClrMapping/>
  </p:clrMapOvr>
  <p:transition spd="slow">
    <p:wip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ctr"/>
          <a:lstStyle/>
          <a:p>
            <a:r>
              <a:rPr lang="en-US">
                <a:effectLst>
                  <a:outerShdw blurRad="38100" dist="38100" dir="2700000" algn="tl">
                    <a:srgbClr val="000000">
                      <a:alpha val="43137"/>
                    </a:srgbClr>
                  </a:outerShdw>
                </a:effectLst>
              </a:rPr>
              <a:t>Demo</a:t>
            </a:r>
          </a:p>
        </p:txBody>
      </p:sp>
      <p:sp>
        <p:nvSpPr>
          <p:cNvPr id="3" name="Slide Number Placeholder 3"/>
          <p:cNvSpPr>
            <a:spLocks noGrp="1"/>
          </p:cNvSpPr>
          <p:nvPr>
            <p:ph type="sldNum" sz="quarter" idx="12"/>
          </p:nvPr>
        </p:nvSpPr>
        <p:spPr/>
        <p:txBody>
          <a:bodyPr/>
          <a:lstStyle/>
          <a:p>
            <a:fld id="{A0E71F06-E3F5-E242-AD46-023EB074373D}" type="slidenum">
              <a:rPr lang="x-none" smtClean="0"/>
              <a:t>20</a:t>
            </a:fld>
            <a:endParaRPr lang="x-none"/>
          </a:p>
        </p:txBody>
      </p:sp>
      <p:sp>
        <p:nvSpPr>
          <p:cNvPr id="4" name="Demo steps"/>
          <p:cNvSpPr/>
          <p:nvPr/>
        </p:nvSpPr>
        <p:spPr>
          <a:xfrm>
            <a:off x="1451152" y="2057400"/>
            <a:ext cx="5120640" cy="3520440"/>
          </a:xfrm>
          <a:prstGeom prst="roundRect">
            <a:avLst>
              <a:gd name="adj" fmla="val 6000"/>
            </a:avLst>
          </a:prstGeom>
          <a:solidFill>
            <a:schemeClr val="bg1"/>
          </a:solidFill>
          <a:ln w="9525">
            <a:solidFill>
              <a:srgbClr val="D5D0C8"/>
            </a:solidFill>
          </a:ln>
          <a:effectLst/>
        </p:spPr>
        <p:style>
          <a:lnRef idx="1">
            <a:schemeClr val="accent1"/>
          </a:lnRef>
          <a:fillRef idx="3">
            <a:schemeClr val="accent1"/>
          </a:fillRef>
          <a:effectRef idx="2">
            <a:schemeClr val="accent1"/>
          </a:effectRef>
          <a:fontRef idx="minor">
            <a:schemeClr val="lt1"/>
          </a:fontRef>
        </p:style>
        <p:txBody>
          <a:bodyPr wrap="square" lIns="228600" tIns="228600" rIns="228600" bIns="228600" rtlCol="0" anchor="t">
            <a:noAutofit/>
          </a:bodyPr>
          <a:lstStyle/>
          <a:p>
            <a:pPr algn="l">
              <a:lnSpc>
                <a:spcPct val="105000"/>
              </a:lnSpc>
              <a:spcAft>
                <a:spcPts val="800"/>
              </a:spcAft>
            </a:pPr>
            <a:r>
              <a:rPr sz="2000" b="1" i="0">
                <a:solidFill>
                  <a:schemeClr val="accent1"/>
                </a:solidFill>
              </a:rPr>
              <a:t>What the demo shows</a:t>
            </a:r>
          </a:p>
          <a:p>
            <a:pPr marL="246888" indent="-246888" algn="l">
              <a:lnSpc>
                <a:spcPct val="105000"/>
              </a:lnSpc>
              <a:spcAft>
                <a:spcPts val="500"/>
              </a:spcAft>
              <a:buClr>
                <a:schemeClr val="accent1"/>
              </a:buClr>
              <a:buFont typeface="Arial"/>
              <a:buAutoNum type="arabicPeriod"/>
            </a:pPr>
            <a:r>
              <a:rPr sz="1500" b="0" i="0">
                <a:solidFill>
                  <a:schemeClr val="tx2"/>
                </a:solidFill>
              </a:rPr>
              <a:t>Simulated CGM data and time in range</a:t>
            </a:r>
          </a:p>
          <a:p>
            <a:pPr marL="246888" indent="-246888" algn="l">
              <a:lnSpc>
                <a:spcPct val="105000"/>
              </a:lnSpc>
              <a:spcAft>
                <a:spcPts val="500"/>
              </a:spcAft>
              <a:buClr>
                <a:schemeClr val="accent1"/>
              </a:buClr>
              <a:buFont typeface="Arial"/>
              <a:buAutoNum type="arabicPeriod"/>
            </a:pPr>
            <a:r>
              <a:rPr sz="1500" b="0" i="0">
                <a:solidFill>
                  <a:schemeClr val="tx2"/>
                </a:solidFill>
              </a:rPr>
              <a:t>Safety alerts, including an urgent low</a:t>
            </a:r>
          </a:p>
          <a:p>
            <a:pPr marL="246888" indent="-246888" algn="l">
              <a:lnSpc>
                <a:spcPct val="105000"/>
              </a:lnSpc>
              <a:spcAft>
                <a:spcPts val="500"/>
              </a:spcAft>
              <a:buClr>
                <a:schemeClr val="accent1"/>
              </a:buClr>
              <a:buFont typeface="Arial"/>
              <a:buAutoNum type="arabicPeriod"/>
            </a:pPr>
            <a:r>
              <a:rPr sz="1500" b="0" i="0">
                <a:solidFill>
                  <a:schemeClr val="tx2"/>
                </a:solidFill>
              </a:rPr>
              <a:t>Escalation when the user does not respond</a:t>
            </a:r>
          </a:p>
          <a:p>
            <a:pPr marL="246888" indent="-246888" algn="l">
              <a:lnSpc>
                <a:spcPct val="105000"/>
              </a:lnSpc>
              <a:spcAft>
                <a:spcPts val="500"/>
              </a:spcAft>
              <a:buClr>
                <a:schemeClr val="accent1"/>
              </a:buClr>
              <a:buFont typeface="Arial"/>
              <a:buAutoNum type="arabicPeriod"/>
            </a:pPr>
            <a:r>
              <a:rPr sz="1500" b="0" i="0">
                <a:solidFill>
                  <a:schemeClr val="tx2"/>
                </a:solidFill>
              </a:rPr>
              <a:t>Personal food response from logged data</a:t>
            </a:r>
          </a:p>
          <a:p>
            <a:pPr marL="246888" indent="-246888" algn="l">
              <a:lnSpc>
                <a:spcPct val="105000"/>
              </a:lnSpc>
              <a:spcAft>
                <a:spcPts val="500"/>
              </a:spcAft>
              <a:buClr>
                <a:schemeClr val="accent1"/>
              </a:buClr>
              <a:buFont typeface="Arial"/>
              <a:buAutoNum type="arabicPeriod"/>
            </a:pPr>
            <a:r>
              <a:rPr sz="1500" b="0" i="0">
                <a:solidFill>
                  <a:schemeClr val="tx2"/>
                </a:solidFill>
              </a:rPr>
              <a:t>Held-out error against generic methods</a:t>
            </a:r>
          </a:p>
          <a:p>
            <a:pPr marL="246888" indent="-246888" algn="l">
              <a:lnSpc>
                <a:spcPct val="105000"/>
              </a:lnSpc>
              <a:spcAft>
                <a:spcPts val="500"/>
              </a:spcAft>
              <a:buClr>
                <a:schemeClr val="accent1"/>
              </a:buClr>
              <a:buFont typeface="Arial"/>
              <a:buAutoNum type="arabicPeriod"/>
            </a:pPr>
            <a:r>
              <a:rPr sz="1500" b="0" i="0">
                <a:solidFill>
                  <a:schemeClr val="tx2"/>
                </a:solidFill>
              </a:rPr>
              <a:t>What-if meal comparison with evidence</a:t>
            </a:r>
          </a:p>
          <a:p>
            <a:pPr marL="246888" indent="-246888" algn="l">
              <a:lnSpc>
                <a:spcPct val="105000"/>
              </a:lnSpc>
              <a:buClr>
                <a:schemeClr val="accent1"/>
              </a:buClr>
              <a:buFont typeface="Arial"/>
              <a:buAutoNum type="arabicPeriod"/>
            </a:pPr>
            <a:r>
              <a:rPr sz="1500" b="0" i="0">
                <a:solidFill>
                  <a:schemeClr val="tx2"/>
                </a:solidFill>
              </a:rPr>
              <a:t>Calculator with hard limits</a:t>
            </a:r>
          </a:p>
        </p:txBody>
      </p:sp>
      <p:sp>
        <p:nvSpPr>
          <p:cNvPr id="5" name="Run it"/>
          <p:cNvSpPr/>
          <p:nvPr/>
        </p:nvSpPr>
        <p:spPr>
          <a:xfrm>
            <a:off x="6800392" y="2057400"/>
            <a:ext cx="4254703" cy="3520440"/>
          </a:xfrm>
          <a:prstGeom prst="roundRect">
            <a:avLst>
              <a:gd name="adj" fmla="val 6000"/>
            </a:avLst>
          </a:prstGeom>
          <a:solidFill>
            <a:schemeClr val="bg1"/>
          </a:solidFill>
          <a:ln w="9525">
            <a:solidFill>
              <a:srgbClr val="D5D0C8"/>
            </a:solidFill>
          </a:ln>
          <a:effectLst/>
        </p:spPr>
        <p:style>
          <a:lnRef idx="1">
            <a:schemeClr val="accent1"/>
          </a:lnRef>
          <a:fillRef idx="3">
            <a:schemeClr val="accent1"/>
          </a:fillRef>
          <a:effectRef idx="2">
            <a:schemeClr val="accent1"/>
          </a:effectRef>
          <a:fontRef idx="minor">
            <a:schemeClr val="lt1"/>
          </a:fontRef>
        </p:style>
        <p:txBody>
          <a:bodyPr wrap="square" lIns="228600" tIns="228600" rIns="228600" bIns="228600" rtlCol="0" anchor="t">
            <a:noAutofit/>
          </a:bodyPr>
          <a:lstStyle/>
          <a:p>
            <a:pPr algn="l">
              <a:lnSpc>
                <a:spcPct val="105000"/>
              </a:lnSpc>
              <a:spcAft>
                <a:spcPts val="800"/>
              </a:spcAft>
            </a:pPr>
            <a:r>
              <a:rPr sz="2000" b="1" i="0">
                <a:solidFill>
                  <a:schemeClr val="accent1"/>
                </a:solidFill>
              </a:rPr>
              <a:t>Run it</a:t>
            </a:r>
          </a:p>
          <a:p>
            <a:pPr algn="l">
              <a:lnSpc>
                <a:spcPct val="105000"/>
              </a:lnSpc>
            </a:pPr>
            <a:r>
              <a:rPr sz="1500" b="0" i="0">
                <a:solidFill>
                  <a:schemeClr val="tx2"/>
                </a:solidFill>
              </a:rPr>
              <a:t>Code: [GitHub link]</a:t>
            </a:r>
          </a:p>
        </p:txBody>
      </p:sp>
      <p:sp>
        <p:nvSpPr>
          <p:cNvPr id="6" name="Commands"/>
          <p:cNvSpPr/>
          <p:nvPr/>
        </p:nvSpPr>
        <p:spPr>
          <a:xfrm>
            <a:off x="7028992" y="3246120"/>
            <a:ext cx="3797503" cy="1371600"/>
          </a:xfrm>
          <a:prstGeom prst="roundRect">
            <a:avLst>
              <a:gd name="adj" fmla="val 6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wrap="square" lIns="182880" tIns="91440" rIns="182880" bIns="91440" rtlCol="0" anchor="ctr">
            <a:noAutofit/>
          </a:bodyPr>
          <a:lstStyle/>
          <a:p>
            <a:pPr algn="l">
              <a:lnSpc>
                <a:spcPct val="105000"/>
              </a:lnSpc>
              <a:spcAft>
                <a:spcPts val="800"/>
              </a:spcAft>
            </a:pPr>
            <a:r>
              <a:rPr sz="1300" b="0" i="0">
                <a:solidFill>
                  <a:schemeClr val="bg1"/>
                </a:solidFill>
                <a:latin typeface="Courier New"/>
              </a:rPr>
              <a:t>python3 demo.py</a:t>
            </a:r>
          </a:p>
          <a:p>
            <a:pPr algn="l">
              <a:lnSpc>
                <a:spcPct val="105000"/>
              </a:lnSpc>
            </a:pPr>
            <a:r>
              <a:rPr sz="1200" b="0" i="0">
                <a:solidFill>
                  <a:schemeClr val="bg1"/>
                </a:solidFill>
                <a:latin typeface="Courier New"/>
              </a:rPr>
              <a:t>python3 -m unittest discover -s tests</a:t>
            </a:r>
          </a:p>
        </p:txBody>
      </p:sp>
      <p:sp>
        <p:nvSpPr>
          <p:cNvPr id="7" name="Run note"/>
          <p:cNvSpPr txBox="1"/>
          <p:nvPr/>
        </p:nvSpPr>
        <p:spPr>
          <a:xfrm>
            <a:off x="7028992" y="4754880"/>
            <a:ext cx="3797503" cy="640080"/>
          </a:xfrm>
          <a:prstGeom prst="rect">
            <a:avLst/>
          </a:prstGeom>
          <a:noFill/>
        </p:spPr>
        <p:txBody>
          <a:bodyPr wrap="square" lIns="0" tIns="0" rIns="0" bIns="0" anchor="t">
            <a:noAutofit/>
          </a:bodyPr>
          <a:lstStyle/>
          <a:p>
            <a:pPr algn="l">
              <a:lnSpc>
                <a:spcPct val="105000"/>
              </a:lnSpc>
            </a:pPr>
            <a:r>
              <a:rPr sz="1400" b="0" i="0">
                <a:solidFill>
                  <a:srgbClr val="5F5A54"/>
                </a:solidFill>
              </a:rPr>
              <a:t>No installs needed. Demo data is synthetic; python3 hupa_eval.py runs the real-data evaluation.</a:t>
            </a:r>
          </a:p>
        </p:txBody>
      </p:sp>
    </p:spTree>
  </p:cSld>
  <p:clrMapOvr>
    <a:masterClrMapping/>
  </p:clrMapOvr>
  <p:transition spd="slow">
    <p:wip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ctr"/>
          <a:lstStyle/>
          <a:p>
            <a:r>
              <a:rPr lang="en-US">
                <a:effectLst>
                  <a:outerShdw blurRad="38100" dist="38100" dir="2700000" algn="tl">
                    <a:srgbClr val="000000">
                      <a:alpha val="43137"/>
                    </a:srgbClr>
                  </a:outerShdw>
                </a:effectLst>
              </a:rPr>
              <a:t>Model Application &amp; Results	(2/2)</a:t>
            </a:r>
          </a:p>
        </p:txBody>
      </p:sp>
      <p:sp>
        <p:nvSpPr>
          <p:cNvPr id="3" name="Slide Number Placeholder 3"/>
          <p:cNvSpPr>
            <a:spLocks noGrp="1"/>
          </p:cNvSpPr>
          <p:nvPr>
            <p:ph type="sldNum" sz="quarter" idx="12"/>
          </p:nvPr>
        </p:nvSpPr>
        <p:spPr/>
        <p:txBody>
          <a:bodyPr/>
          <a:lstStyle/>
          <a:p>
            <a:fld id="{A0E71F06-E3F5-E242-AD46-023EB074373D}" type="slidenum">
              <a:rPr lang="x-none" smtClean="0"/>
              <a:t>15</a:t>
            </a:fld>
            <a:endParaRPr lang="x-none"/>
          </a:p>
        </p:txBody>
      </p:sp>
      <p:sp>
        <p:nvSpPr>
          <p:cNvPr id="4" name="Chart caption"/>
          <p:cNvSpPr txBox="1"/>
          <p:nvPr/>
        </p:nvSpPr>
        <p:spPr>
          <a:xfrm>
            <a:off x="1451152" y="2011680"/>
            <a:ext cx="5577840" cy="365760"/>
          </a:xfrm>
          <a:prstGeom prst="rect">
            <a:avLst/>
          </a:prstGeom>
          <a:noFill/>
        </p:spPr>
        <p:txBody>
          <a:bodyPr wrap="square" lIns="0" tIns="0" rIns="0" bIns="0" anchor="t">
            <a:noAutofit/>
          </a:bodyPr>
          <a:lstStyle/>
          <a:p>
            <a:pPr algn="l">
              <a:lnSpc>
                <a:spcPct val="105000"/>
              </a:lnSpc>
            </a:pPr>
            <a:r>
              <a:rPr sz="1400" b="0" i="0">
                <a:solidFill>
                  <a:srgbClr val="5F5A54"/>
                </a:solidFill>
              </a:rPr>
              <a:t>Patient 28: error on the same 60 test meals as learning history grows (mg/dL)</a:t>
            </a:r>
          </a:p>
        </p:txBody>
      </p:sp>
      <p:graphicFrame>
        <p:nvGraphicFramePr>
          <p:cNvPr id="5" name="Learning curve chart" descr="Line chart for patient 28: personal model error falls from 29.9 to 20.9 mg/dL as history grows from 10 to 120 meals; carb-count ratio stays near 28 to 31; global average is 27.3."/>
          <p:cNvGraphicFramePr>
            <a:graphicFrameLocks noGrp="1"/>
          </p:cNvGraphicFramePr>
          <p:nvPr/>
        </p:nvGraphicFramePr>
        <p:xfrm>
          <a:off x="1451152" y="2423160"/>
          <a:ext cx="5577840" cy="3657600"/>
        </p:xfrm>
        <a:graphic>
          <a:graphicData uri="http://schemas.openxmlformats.org/drawingml/2006/chart">
            <c:chart xmlns:c="http://schemas.openxmlformats.org/drawingml/2006/chart" xmlns:r="http://schemas.openxmlformats.org/officeDocument/2006/relationships" r:id="rId3"/>
          </a:graphicData>
        </a:graphic>
      </p:graphicFrame>
      <p:sp>
        <p:nvSpPr>
          <p:cNvPr id="6" name="Gain 1"/>
          <p:cNvSpPr/>
          <p:nvPr/>
        </p:nvSpPr>
        <p:spPr>
          <a:xfrm>
            <a:off x="7303312" y="2057400"/>
            <a:ext cx="3751783" cy="1097280"/>
          </a:xfrm>
          <a:prstGeom prst="roundRect">
            <a:avLst>
              <a:gd name="adj" fmla="val 6000"/>
            </a:avLst>
          </a:prstGeom>
          <a:solidFill>
            <a:schemeClr val="bg1"/>
          </a:solidFill>
          <a:ln w="9525">
            <a:solidFill>
              <a:srgbClr val="D5D0C8"/>
            </a:solidFill>
          </a:ln>
          <a:effectLst/>
        </p:spPr>
        <p:style>
          <a:lnRef idx="1">
            <a:schemeClr val="accent1"/>
          </a:lnRef>
          <a:fillRef idx="3">
            <a:schemeClr val="accent1"/>
          </a:fillRef>
          <a:effectRef idx="2">
            <a:schemeClr val="accent1"/>
          </a:effectRef>
          <a:fontRef idx="minor">
            <a:schemeClr val="lt1"/>
          </a:fontRef>
        </p:style>
        <p:txBody>
          <a:bodyPr wrap="square" lIns="182880" tIns="182880" rIns="182880" bIns="182880" rtlCol="0" anchor="ctr">
            <a:noAutofit/>
          </a:bodyPr>
          <a:lstStyle/>
          <a:p>
            <a:pPr algn="l">
              <a:lnSpc>
                <a:spcPct val="105000"/>
              </a:lnSpc>
              <a:spcAft>
                <a:spcPts val="0"/>
              </a:spcAft>
            </a:pPr>
            <a:r>
              <a:rPr sz="3200" b="1" i="0">
                <a:solidFill>
                  <a:schemeClr val="accent1"/>
                </a:solidFill>
              </a:rPr>
              <a:t>23%</a:t>
            </a:r>
          </a:p>
          <a:p>
            <a:pPr algn="l">
              <a:lnSpc>
                <a:spcPct val="105000"/>
              </a:lnSpc>
            </a:pPr>
            <a:r>
              <a:rPr sz="1400" b="0" i="0">
                <a:solidFill>
                  <a:schemeClr val="tx2"/>
                </a:solidFill>
              </a:rPr>
              <a:t>lower error than the global average after 120 meals (20.9 vs 27.3)</a:t>
            </a:r>
          </a:p>
        </p:txBody>
      </p:sp>
      <p:sp>
        <p:nvSpPr>
          <p:cNvPr id="7" name="Gain 2"/>
          <p:cNvSpPr/>
          <p:nvPr/>
        </p:nvSpPr>
        <p:spPr>
          <a:xfrm>
            <a:off x="7303312" y="3337560"/>
            <a:ext cx="3751783" cy="1097280"/>
          </a:xfrm>
          <a:prstGeom prst="roundRect">
            <a:avLst>
              <a:gd name="adj" fmla="val 6000"/>
            </a:avLst>
          </a:prstGeom>
          <a:solidFill>
            <a:schemeClr val="bg1"/>
          </a:solidFill>
          <a:ln w="9525">
            <a:solidFill>
              <a:srgbClr val="D5D0C8"/>
            </a:solidFill>
          </a:ln>
          <a:effectLst/>
        </p:spPr>
        <p:style>
          <a:lnRef idx="1">
            <a:schemeClr val="accent1"/>
          </a:lnRef>
          <a:fillRef idx="3">
            <a:schemeClr val="accent1"/>
          </a:fillRef>
          <a:effectRef idx="2">
            <a:schemeClr val="accent1"/>
          </a:effectRef>
          <a:fontRef idx="minor">
            <a:schemeClr val="lt1"/>
          </a:fontRef>
        </p:style>
        <p:txBody>
          <a:bodyPr wrap="square" lIns="182880" tIns="182880" rIns="182880" bIns="182880" rtlCol="0" anchor="ctr">
            <a:noAutofit/>
          </a:bodyPr>
          <a:lstStyle/>
          <a:p>
            <a:pPr algn="l">
              <a:lnSpc>
                <a:spcPct val="105000"/>
              </a:lnSpc>
              <a:spcAft>
                <a:spcPts val="0"/>
              </a:spcAft>
            </a:pPr>
            <a:r>
              <a:rPr sz="3200" b="1" i="0">
                <a:solidFill>
                  <a:schemeClr val="accent1"/>
                </a:solidFill>
              </a:rPr>
              <a:t>60–120 meals</a:t>
            </a:r>
          </a:p>
          <a:p>
            <a:pPr algn="l">
              <a:lnSpc>
                <a:spcPct val="105000"/>
              </a:lnSpc>
            </a:pPr>
            <a:r>
              <a:rPr sz="1400" b="0" i="0">
                <a:solidFill>
                  <a:schemeClr val="tx2"/>
                </a:solidFill>
              </a:rPr>
              <a:t>of history before it overtakes the global average (patients 27, 28)</a:t>
            </a:r>
          </a:p>
        </p:txBody>
      </p:sp>
      <p:sp>
        <p:nvSpPr>
          <p:cNvPr id="8" name="Limitation"/>
          <p:cNvSpPr/>
          <p:nvPr/>
        </p:nvSpPr>
        <p:spPr>
          <a:xfrm>
            <a:off x="7303312" y="4617720"/>
            <a:ext cx="3751783" cy="1600200"/>
          </a:xfrm>
          <a:prstGeom prst="roundRect">
            <a:avLst>
              <a:gd name="adj" fmla="val 6000"/>
            </a:avLst>
          </a:prstGeom>
          <a:solidFill>
            <a:srgbClr val="F6E3E8"/>
          </a:solidFill>
          <a:ln>
            <a:noFill/>
          </a:ln>
          <a:effectLst/>
        </p:spPr>
        <p:style>
          <a:lnRef idx="1">
            <a:schemeClr val="accent1"/>
          </a:lnRef>
          <a:fillRef idx="3">
            <a:schemeClr val="accent1"/>
          </a:fillRef>
          <a:effectRef idx="2">
            <a:schemeClr val="accent1"/>
          </a:effectRef>
          <a:fontRef idx="minor">
            <a:schemeClr val="lt1"/>
          </a:fontRef>
        </p:style>
        <p:txBody>
          <a:bodyPr wrap="square" lIns="182880" tIns="182880" rIns="182880" bIns="182880" rtlCol="0" anchor="t">
            <a:noAutofit/>
          </a:bodyPr>
          <a:lstStyle/>
          <a:p>
            <a:pPr algn="l">
              <a:lnSpc>
                <a:spcPct val="105000"/>
              </a:lnSpc>
              <a:spcAft>
                <a:spcPts val="300"/>
              </a:spcAft>
            </a:pPr>
            <a:r>
              <a:rPr sz="1600" b="1" i="0">
                <a:solidFill>
                  <a:schemeClr val="accent1"/>
                </a:solidFill>
              </a:rPr>
              <a:t>What this means</a:t>
            </a:r>
          </a:p>
          <a:p>
            <a:pPr algn="l">
              <a:lnSpc>
                <a:spcPct val="105000"/>
              </a:lnSpc>
            </a:pPr>
            <a:r>
              <a:rPr sz="1400" b="0" i="0">
                <a:solidFill>
                  <a:schemeClr val="tx2"/>
                </a:solidFill>
              </a:rPr>
              <a:t>Only 2 patients have this much history. New users should start from the global average and shift to personal estimates as meals build up.</a:t>
            </a:r>
          </a:p>
        </p:txBody>
      </p:sp>
    </p:spTree>
  </p:cSld>
  <p:clrMapOvr>
    <a:masterClrMapping/>
  </p:clrMapOvr>
  <p:transition spd="slow">
    <p:wipe/>
  </p:transition>
</p:sld>
</file>

<file path=ppt/theme/theme1.xml><?xml version="1.0" encoding="utf-8"?>
<a:theme xmlns:a="http://schemas.openxmlformats.org/drawingml/2006/main" name="My Theme">
  <a:themeElements>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fontScheme name="Gallery">
      <a:majorFont>
        <a:latin typeface="Gill Sans MT" panose="020B0502020104020203"/>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panose="020B0502020104020203"/>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allery">
      <a:fillStyleLst>
        <a:solidFill>
          <a:schemeClr val="phClr"/>
        </a:solidFill>
        <a:gradFill rotWithShape="1">
          <a:gsLst>
            <a:gs pos="0">
              <a:schemeClr val="phClr">
                <a:tint val="54000"/>
                <a:alpha val="100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8000"/>
                <a:satMod val="130000"/>
                <a:lumMod val="92000"/>
              </a:schemeClr>
            </a:gs>
            <a:gs pos="100000">
              <a:schemeClr val="phClr">
                <a:shade val="78000"/>
                <a:satMod val="130000"/>
                <a:lumMod val="92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43000" r="43000" b="100000"/>
          </a:path>
        </a:gradFill>
      </a:bgFillStyleLst>
    </a:fmtScheme>
  </a:themeElements>
  <a:objectDefaults/>
  <a:extraClrSchemeLst/>
  <a:extLst>
    <a:ext uri="{05A4C25C-085E-4340-85A3-A5531E510DB2}">
      <thm15:themeFamily xmlns:thm15="http://schemas.microsoft.com/office/thememl/2012/main" name="My Theme" id="{E92D7F8F-CB29-473A-9ABC-48D98641A09C}" vid="{0339AE0B-05C6-4E2A-812E-B6C5825F99E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My Theme</Template>
  <TotalTime>33052</TotalTime>
  <Words>2491</Words>
  <Application>Microsoft Macintosh PowerPoint</Application>
  <PresentationFormat>Widescreen</PresentationFormat>
  <Paragraphs>283</Paragraphs>
  <Slides>20</Slides>
  <Notes>20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20</vt:i4>
      </vt:variant>
    </vt:vector>
  </HeadingPairs>
  <TitlesOfParts>
    <vt:vector size="25" baseType="lpstr">
      <vt:lpstr>Arial</vt:lpstr>
      <vt:lpstr>Calibri</vt:lpstr>
      <vt:lpstr>Courier New</vt:lpstr>
      <vt:lpstr>Gill Sans MT</vt:lpstr>
      <vt:lpstr>My Theme</vt:lpstr>
      <vt:lpstr>InsuLink Intelligent Glucose Management</vt:lpstr>
      <vt:lpstr>Outline</vt:lpstr>
      <vt:lpstr>Introduction (1/2)</vt:lpstr>
      <vt:lpstr>Introduction (2/2)</vt:lpstr>
      <vt:lpstr>Research Motivation</vt:lpstr>
      <vt:lpstr>Research Problems &amp; Objectives</vt:lpstr>
      <vt:lpstr>Related Work (1/2)</vt:lpstr>
      <vt:lpstr>Related Work (2/2)</vt:lpstr>
      <vt:lpstr>System Architecture</vt:lpstr>
      <vt:lpstr>Software Architecture</vt:lpstr>
      <vt:lpstr>Safety Design</vt:lpstr>
      <vt:lpstr>Escalation Chain</vt:lpstr>
      <vt:lpstr>Proposed Model</vt:lpstr>
      <vt:lpstr>Dataset &amp; Evaluation</vt:lpstr>
      <vt:lpstr>Model Application &amp; Results (1/2)</vt:lpstr>
      <vt:lpstr>Model Application &amp; Results (2/2)</vt:lpstr>
      <vt:lpstr>Conclusion</vt:lpstr>
      <vt:lpstr>Future Work</vt:lpstr>
      <vt:lpstr>References</vt:lpstr>
      <vt:lpstr>Demo</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InsuLink - Graduation Project, Milestone 1</dc:title>
  <dc:subject>Intelligent glucose management with personal food response and emergency support</dc:subject>
  <dc:creator>Mo'men Ibrahem</dc:creator>
  <cp:lastModifiedBy>ahmed sameh</cp:lastModifiedBy>
  <cp:revision>327</cp:revision>
  <dcterms:created xsi:type="dcterms:W3CDTF">2022-09-11T07:44:25Z</dcterms:created>
  <dcterms:modified xsi:type="dcterms:W3CDTF">2026-10-19T07:32:51Z</dcterms:modified>
</cp:coreProperties>
</file>